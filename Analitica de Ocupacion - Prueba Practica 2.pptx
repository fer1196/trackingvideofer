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(≈10 s, abre): Buenas tardes. Somos el equipo de Analítica de Ocupación y presentamos un prototipo para ayudar a Rodrigo a decidir qué aplicación pilotar primero en el piso piloto del Centro Comercial La Carolina.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(≈20 s): El reto de Rodrigo: con presupuesto y cómputo para una sola aplicación robusta, debe elegir entre tres candidatas —analítica de ingreso, bienestar postural y control de acceso facial— para las cuatro cámaras del piso piloto. Las dificultades del video son oclusiones, una cámara gran angular, reflejos y personas que cruzan en paralelo. La regla de oro: sin identidad persistente no hay mapa de calor ni conteo confiables.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(≈30 s): Nuestro pipeline es tracking-by-detection. Primero exploramos el video; luego YOLOv26 detecta personas en cada cuadro y ByteTrack las asocia por IoU manteniendo su identidad. Sobre ese ID persistente construimos tres productos: la estela de cada persona, el mapa de calor y el conteo por línea virtual, cuidando no duplicar, y cerramos con una reflexión sobre los límites. Todo en una sola pasada del detector, acelerada con la GPU de Apple.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1 (≈30 s): En los pasos 1 y 2 exploramos y trackeamos. El video son 10 642 cuadros a 1280 por 720 y 30 fps, unos 355 segundos reales. La cámara es gran angular en ángulo lateral, por eso las cajas se distorsionan en los bordes. En la figura se ve a cada persona con su caja, su ID y una cola que se desvanece; una misma persona conserva el mismo ID mientras es visible. En total aparecieron 292 identidades, que son la base del mapa de calor y del conteo.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2 (≈30 s): En el paso 3 construimos el mapa de calor acumulando 23 731 centroides sobre una grilla del plano. El resultado es claro: el tránsito se concentra en el corredor del fondo, el paso hacia el parqueadero, mientras el primer plano queda subutilizado. Esta es la evidencia que Rodrigo le muestra al directorio sobre qué zonas ampliar. Ojo: los puntos calientes sobre vitrinas o carteles son detecciones espurias, no tránsito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3 (≈22 s): En el paso 4 definimos una línea virtual sobre el corredor de ingreso y contamos los cruces usando el ID persistente. Contamos cada identidad una sola vez por dirección: 22 personas ingresaron y 21 salieron. La dirección define la semántica: hacia la cámara es ingreso al interior. La exactitud depende por completo de la persistencia del ID; si una persona cambia de ID por una oclusión, puede contarse dos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INTEGRANTE 3 (≈18 s, cierra): Recomendamos pilotar primero la analítica de ingreso: aporta valor medible, no identifica personas y se resuelve con una sola aplicación. El acceso facial es biométrico, con alta fricción y gobernanza de datos, así que se pospone. Como límite honesto, las oclusiones y los cruces en paralelo hacen que las cifras sean una estimación; antes de prometer precisión al directorio hay que validar contra medición manual y consolidar las cuatro cámaras.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139"/>
            <a:ext cx="10566400" cy="750729"/>
          </a:xfrm>
          <a:prstGeom prst="rect">
            <a:avLst/>
          </a:prstGeom>
          <a:noFill/>
          <a:ln/>
        </p:spPr>
        <p:txBody>
          <a:bodyPr wrap="square" lIns="0" tIns="0" rIns="0" bIns="0" rtlCol="0" anchor="t"/>
          <a:lstStyle>
            <a:lvl1pPr algn="l" indent="0" marL="0">
              <a:lnSpc>
                <a:spcPct val="115000"/>
              </a:lnSpc>
              <a:buNone/>
              <a:defRPr lang="en-US" sz="2800" dirty="0">
                <a:solidFill>
                  <a:srgbClr val="2A1A1D"/>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175668"/>
            <a:ext cx="10566400" cy="3869532"/>
          </a:xfrm>
          <a:prstGeom prst="rect">
            <a:avLst/>
          </a:prstGeom>
          <a:noFill/>
          <a:ln/>
        </p:spPr>
        <p:txBody>
          <a:bodyPr wrap="square" lIns="0" tIns="0" rIns="0" bIns="0" rtlCol="0" anchor="t"/>
          <a:lstStyle>
            <a:lvl1pPr algn="l" indent="0" marL="0">
              <a:lnSpc>
                <a:spcPct val="140000"/>
              </a:lnSpc>
              <a:buNone/>
              <a:defRPr lang="en-US" sz="1600" dirty="0">
                <a:solidFill>
                  <a:srgbClr val="2A1A1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139"/>
            <a:ext cx="10566400" cy="750729"/>
          </a:xfrm>
          <a:prstGeom prst="rect">
            <a:avLst/>
          </a:prstGeom>
          <a:noFill/>
          <a:ln/>
        </p:spPr>
        <p:txBody>
          <a:bodyPr wrap="square" lIns="0" tIns="0" rIns="0" bIns="0" rtlCol="0" anchor="t"/>
          <a:lstStyle>
            <a:lvl1pPr algn="l" indent="0" marL="0">
              <a:lnSpc>
                <a:spcPct val="115000"/>
              </a:lnSpc>
              <a:buNone/>
              <a:defRPr lang="en-US" sz="2800" dirty="0">
                <a:solidFill>
                  <a:srgbClr val="2A1A1D"/>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175668"/>
            <a:ext cx="10566400" cy="3869532"/>
          </a:xfrm>
          <a:prstGeom prst="rect">
            <a:avLst/>
          </a:prstGeom>
          <a:noFill/>
          <a:ln/>
        </p:spPr>
        <p:txBody>
          <a:bodyPr wrap="square" lIns="0" tIns="0" rIns="0" bIns="0" rtlCol="0" anchor="t"/>
          <a:lstStyle>
            <a:lvl1pPr algn="l" indent="0" marL="0">
              <a:lnSpc>
                <a:spcPct val="140000"/>
              </a:lnSpc>
              <a:buNone/>
              <a:defRPr lang="en-US" sz="1600" dirty="0">
                <a:solidFill>
                  <a:srgbClr val="2A1A1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E2C"/>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C9A24D"/>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CF94"/>
                </a:solidFill>
                <a:latin typeface="Montserrat" pitchFamily="34" charset="0"/>
                <a:ea typeface="Montserrat" pitchFamily="34" charset="-122"/>
                <a:cs typeface="Montserrat" pitchFamily="34" charset="-120"/>
              </a:rPr>
              <a:t>UNIVERSIDAD INTERNACIONAL DEL ECUADOR · VISIÓN POR COMPUTADORA</a:t>
            </a:r>
            <a:endParaRPr lang="en-US" sz="1400" dirty="0"/>
          </a:p>
        </p:txBody>
      </p:sp>
      <p:sp>
        <p:nvSpPr>
          <p:cNvPr id="4" name="Text 2"/>
          <p:cNvSpPr/>
          <p:nvPr/>
        </p:nvSpPr>
        <p:spPr>
          <a:xfrm>
            <a:off x="812800" y="174117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CF94"/>
                </a:solidFill>
                <a:latin typeface="Public Sans" pitchFamily="34" charset="0"/>
                <a:ea typeface="Public Sans" pitchFamily="34" charset="-122"/>
                <a:cs typeface="Public Sans" pitchFamily="34" charset="-120"/>
              </a:rPr>
              <a:t>Object Detection · Prueba Práctica 2</a:t>
            </a:r>
            <a:endParaRPr lang="en-US" sz="1600" dirty="0"/>
          </a:p>
        </p:txBody>
      </p:sp>
      <p:sp>
        <p:nvSpPr>
          <p:cNvPr id="5" name="Text 3"/>
          <p:cNvSpPr/>
          <p:nvPr>
            <p:ph type="title"/>
          </p:nvPr>
        </p:nvSpPr>
        <p:spPr>
          <a:xfrm>
            <a:off x="812800" y="2228850"/>
            <a:ext cx="10883392" cy="210566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7F2EE"/>
                </a:solidFill>
                <a:latin typeface="Montserrat" pitchFamily="34" charset="0"/>
                <a:ea typeface="Montserrat" pitchFamily="34" charset="-122"/>
                <a:cs typeface="Montserrat" pitchFamily="34" charset="-120"/>
              </a:rPr>
              <a:t>Analítica de ocupación con tracking multi-persona</a:t>
            </a:r>
            <a:endParaRPr lang="en-US" sz="5200" dirty="0"/>
          </a:p>
        </p:txBody>
      </p:sp>
      <p:sp>
        <p:nvSpPr>
          <p:cNvPr id="6" name="Text 4"/>
          <p:cNvSpPr/>
          <p:nvPr/>
        </p:nvSpPr>
        <p:spPr>
          <a:xfrm>
            <a:off x="812800" y="4512310"/>
            <a:ext cx="915670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BDAD6"/>
                </a:solidFill>
                <a:latin typeface="Public Sans" pitchFamily="34" charset="0"/>
                <a:ea typeface="Public Sans" pitchFamily="34" charset="-122"/>
                <a:cs typeface="Public Sans" pitchFamily="34" charset="-120"/>
              </a:rPr>
              <a:t>Prototipo con YOLO + ByteTrack para decidir qué aplicación pilotar en La Carolina</a:t>
            </a:r>
            <a:endParaRPr lang="en-US" sz="1800" dirty="0"/>
          </a:p>
        </p:txBody>
      </p:sp>
      <p:sp>
        <p:nvSpPr>
          <p:cNvPr id="7" name="Text 5"/>
          <p:cNvSpPr/>
          <p:nvPr/>
        </p:nvSpPr>
        <p:spPr>
          <a:xfrm>
            <a:off x="812800" y="5511800"/>
            <a:ext cx="495271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7F2EE"/>
                </a:solidFill>
                <a:latin typeface="Public Sans" pitchFamily="34" charset="0"/>
                <a:ea typeface="Public Sans" pitchFamily="34" charset="-122"/>
                <a:cs typeface="Public Sans" pitchFamily="34" charset="-120"/>
              </a:rPr>
              <a:t>[Integrante 1] · [Integrante 2] · [Integrante 3]</a:t>
            </a:r>
            <a:endParaRPr lang="en-US" sz="1400" dirty="0"/>
          </a:p>
          <a:p>
            <a:pPr algn="l" indent="0" marL="0">
              <a:lnSpc>
                <a:spcPts val="2100"/>
              </a:lnSpc>
              <a:buNone/>
            </a:pPr>
            <a:r>
              <a:rPr lang="en-US" sz="1400" dirty="0">
                <a:solidFill>
                  <a:srgbClr val="F7F2EE"/>
                </a:solidFill>
                <a:latin typeface="Public Sans" pitchFamily="34" charset="0"/>
                <a:ea typeface="Public Sans" pitchFamily="34" charset="-122"/>
                <a:cs typeface="Public Sans" pitchFamily="34" charset="-120"/>
              </a:rPr>
              <a:t>Docente: Manuel Eugenio Morocho-Cayamcela · Octubre 2026</a:t>
            </a:r>
            <a:endParaRPr lang="en-US" sz="1400" dirty="0"/>
          </a:p>
        </p:txBody>
      </p:sp>
      <p:sp>
        <p:nvSpPr>
          <p:cNvPr id="8" name="Text 6"/>
          <p:cNvSpPr/>
          <p:nvPr/>
        </p:nvSpPr>
        <p:spPr>
          <a:xfrm>
            <a:off x="9670511" y="5796280"/>
            <a:ext cx="170869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8CF94"/>
                </a:solidFill>
                <a:latin typeface="Public Sans" pitchFamily="34" charset="0"/>
                <a:ea typeface="Public Sans" pitchFamily="34" charset="-122"/>
                <a:cs typeface="Public Sans" pitchFamily="34" charset="-120"/>
              </a:rPr>
              <a:t>Exposición: 2 min 40 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F1"/>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7A1E2C"/>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A1E2C"/>
                </a:solidFill>
                <a:latin typeface="Montserrat" pitchFamily="34" charset="0"/>
                <a:ea typeface="Montserrat" pitchFamily="34" charset="-122"/>
                <a:cs typeface="Montserrat" pitchFamily="34" charset="-120"/>
              </a:rPr>
              <a:t>EL RETO</a:t>
            </a:r>
            <a:endParaRPr lang="en-US" sz="1300" dirty="0"/>
          </a:p>
        </p:txBody>
      </p:sp>
      <p:sp>
        <p:nvSpPr>
          <p:cNvPr id="4" name="Text 2"/>
          <p:cNvSpPr/>
          <p:nvPr>
            <p:ph type="title"/>
          </p:nvPr>
        </p:nvSpPr>
        <p:spPr>
          <a:xfrm>
            <a:off x="812800" y="1145540"/>
            <a:ext cx="10883392" cy="975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2A1A1D"/>
                </a:solidFill>
                <a:latin typeface="Montserrat" pitchFamily="34" charset="0"/>
                <a:ea typeface="Montserrat" pitchFamily="34" charset="-122"/>
                <a:cs typeface="Montserrat" pitchFamily="34" charset="-120"/>
              </a:rPr>
              <a:t>Rodrigo debe elegir UNA sola aplicación para el piso piloto</a:t>
            </a:r>
            <a:endParaRPr lang="en-US" sz="3400" dirty="0"/>
          </a:p>
        </p:txBody>
      </p:sp>
      <p:sp>
        <p:nvSpPr>
          <p:cNvPr id="5" name="Shape 3"/>
          <p:cNvSpPr/>
          <p:nvPr/>
        </p:nvSpPr>
        <p:spPr>
          <a:xfrm>
            <a:off x="815975" y="2454275"/>
            <a:ext cx="3380264" cy="2212975"/>
          </a:xfrm>
          <a:prstGeom prst="roundRect">
            <a:avLst>
              <a:gd name="adj" fmla="val 4448"/>
            </a:avLst>
          </a:prstGeom>
          <a:solidFill>
            <a:srgbClr val="FFFFFF"/>
          </a:solidFill>
          <a:ln w="6350">
            <a:solidFill>
              <a:srgbClr val="E6DCD8"/>
            </a:solidFill>
            <a:prstDash val="solid"/>
          </a:ln>
        </p:spPr>
      </p:sp>
      <p:sp>
        <p:nvSpPr>
          <p:cNvPr id="6" name="Text 4"/>
          <p:cNvSpPr/>
          <p:nvPr/>
        </p:nvSpPr>
        <p:spPr>
          <a:xfrm>
            <a:off x="1071880" y="2710180"/>
            <a:ext cx="2954507"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7A1E2C"/>
                </a:solidFill>
                <a:latin typeface="Montserrat" pitchFamily="34" charset="0"/>
                <a:ea typeface="Montserrat" pitchFamily="34" charset="-122"/>
                <a:cs typeface="Montserrat" pitchFamily="34" charset="-120"/>
              </a:rPr>
              <a:t>3</a:t>
            </a:r>
            <a:endParaRPr lang="en-US" sz="4800" dirty="0"/>
          </a:p>
        </p:txBody>
      </p:sp>
      <p:sp>
        <p:nvSpPr>
          <p:cNvPr id="7" name="Text 5"/>
          <p:cNvSpPr/>
          <p:nvPr/>
        </p:nvSpPr>
        <p:spPr>
          <a:xfrm>
            <a:off x="1071880" y="3639820"/>
            <a:ext cx="295450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3B3E"/>
                </a:solidFill>
                <a:latin typeface="Public Sans" pitchFamily="34" charset="0"/>
                <a:ea typeface="Public Sans" pitchFamily="34" charset="-122"/>
                <a:cs typeface="Public Sans" pitchFamily="34" charset="-120"/>
              </a:rPr>
              <a:t>aplicaciones candidatas: ingreso, bienestar postural y acceso facial</a:t>
            </a:r>
            <a:endParaRPr lang="en-US" sz="1500" dirty="0"/>
          </a:p>
        </p:txBody>
      </p:sp>
      <p:sp>
        <p:nvSpPr>
          <p:cNvPr id="8" name="Shape 6"/>
          <p:cNvSpPr/>
          <p:nvPr/>
        </p:nvSpPr>
        <p:spPr>
          <a:xfrm>
            <a:off x="4405789" y="2454275"/>
            <a:ext cx="3380343" cy="2212975"/>
          </a:xfrm>
          <a:prstGeom prst="roundRect">
            <a:avLst>
              <a:gd name="adj" fmla="val 4448"/>
            </a:avLst>
          </a:prstGeom>
          <a:solidFill>
            <a:srgbClr val="FFFFFF"/>
          </a:solidFill>
          <a:ln w="6350">
            <a:solidFill>
              <a:srgbClr val="E6DCD8"/>
            </a:solidFill>
            <a:prstDash val="solid"/>
          </a:ln>
        </p:spPr>
      </p:sp>
      <p:sp>
        <p:nvSpPr>
          <p:cNvPr id="9" name="Text 7"/>
          <p:cNvSpPr/>
          <p:nvPr/>
        </p:nvSpPr>
        <p:spPr>
          <a:xfrm>
            <a:off x="4661694" y="2710180"/>
            <a:ext cx="2954589"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7A1E2C"/>
                </a:solidFill>
                <a:latin typeface="Montserrat" pitchFamily="34" charset="0"/>
                <a:ea typeface="Montserrat" pitchFamily="34" charset="-122"/>
                <a:cs typeface="Montserrat" pitchFamily="34" charset="-120"/>
              </a:rPr>
              <a:t>1</a:t>
            </a:r>
            <a:endParaRPr lang="en-US" sz="4800" dirty="0"/>
          </a:p>
        </p:txBody>
      </p:sp>
      <p:sp>
        <p:nvSpPr>
          <p:cNvPr id="10" name="Text 8"/>
          <p:cNvSpPr/>
          <p:nvPr/>
        </p:nvSpPr>
        <p:spPr>
          <a:xfrm>
            <a:off x="4661694" y="3639820"/>
            <a:ext cx="295458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3B3E"/>
                </a:solidFill>
                <a:latin typeface="Public Sans" pitchFamily="34" charset="0"/>
                <a:ea typeface="Public Sans" pitchFamily="34" charset="-122"/>
                <a:cs typeface="Public Sans" pitchFamily="34" charset="-120"/>
              </a:rPr>
              <a:t>sola aplicación robusta que el presupuesto y el cómputo permiten pilotar</a:t>
            </a:r>
            <a:endParaRPr lang="en-US" sz="1500" dirty="0"/>
          </a:p>
        </p:txBody>
      </p:sp>
      <p:sp>
        <p:nvSpPr>
          <p:cNvPr id="11" name="Shape 9"/>
          <p:cNvSpPr/>
          <p:nvPr/>
        </p:nvSpPr>
        <p:spPr>
          <a:xfrm>
            <a:off x="7995682" y="2454275"/>
            <a:ext cx="3380343" cy="2212975"/>
          </a:xfrm>
          <a:prstGeom prst="roundRect">
            <a:avLst>
              <a:gd name="adj" fmla="val 4448"/>
            </a:avLst>
          </a:prstGeom>
          <a:solidFill>
            <a:srgbClr val="FFFFFF"/>
          </a:solidFill>
          <a:ln w="6350">
            <a:solidFill>
              <a:srgbClr val="E6DCD8"/>
            </a:solidFill>
            <a:prstDash val="solid"/>
          </a:ln>
        </p:spPr>
      </p:sp>
      <p:sp>
        <p:nvSpPr>
          <p:cNvPr id="12" name="Text 10"/>
          <p:cNvSpPr/>
          <p:nvPr/>
        </p:nvSpPr>
        <p:spPr>
          <a:xfrm>
            <a:off x="8251587" y="2710180"/>
            <a:ext cx="2954589"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7A1E2C"/>
                </a:solidFill>
                <a:latin typeface="Montserrat" pitchFamily="34" charset="0"/>
                <a:ea typeface="Montserrat" pitchFamily="34" charset="-122"/>
                <a:cs typeface="Montserrat" pitchFamily="34" charset="-120"/>
              </a:rPr>
              <a:t>4</a:t>
            </a:r>
            <a:endParaRPr lang="en-US" sz="4800" dirty="0"/>
          </a:p>
        </p:txBody>
      </p:sp>
      <p:sp>
        <p:nvSpPr>
          <p:cNvPr id="13" name="Text 11"/>
          <p:cNvSpPr/>
          <p:nvPr/>
        </p:nvSpPr>
        <p:spPr>
          <a:xfrm>
            <a:off x="8251587" y="3639820"/>
            <a:ext cx="2954589"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3B3E"/>
                </a:solidFill>
                <a:latin typeface="Public Sans" pitchFamily="34" charset="0"/>
                <a:ea typeface="Public Sans" pitchFamily="34" charset="-122"/>
                <a:cs typeface="Public Sans" pitchFamily="34" charset="-120"/>
              </a:rPr>
              <a:t>cámaras del piso piloto del Centro Comercial La Carolina</a:t>
            </a:r>
            <a:endParaRPr lang="en-US" sz="1500" dirty="0"/>
          </a:p>
        </p:txBody>
      </p:sp>
      <p:sp>
        <p:nvSpPr>
          <p:cNvPr id="14" name="Text 12"/>
          <p:cNvSpPr/>
          <p:nvPr/>
        </p:nvSpPr>
        <p:spPr>
          <a:xfrm>
            <a:off x="812800" y="5026025"/>
            <a:ext cx="10464800" cy="651510"/>
          </a:xfrm>
          <a:prstGeom prst="rect">
            <a:avLst/>
          </a:prstGeom>
          <a:noFill/>
          <a:ln/>
        </p:spPr>
        <p:txBody>
          <a:bodyPr wrap="square" lIns="0" tIns="0" rIns="0" bIns="0" rtlCol="0" anchor="t">
            <a:normAutofit/>
          </a:bodyPr>
          <a:lstStyle/>
          <a:p>
            <a:pPr algn="l" indent="0" marL="0">
              <a:lnSpc>
                <a:spcPts val="2465"/>
              </a:lnSpc>
              <a:buNone/>
            </a:pPr>
            <a:r>
              <a:rPr lang="en-US" sz="1700" b="1" dirty="0">
                <a:solidFill>
                  <a:srgbClr val="2A1A1D"/>
                </a:solidFill>
                <a:latin typeface="Public Sans" pitchFamily="34" charset="0"/>
                <a:ea typeface="Public Sans" pitchFamily="34" charset="-122"/>
                <a:cs typeface="Public Sans" pitchFamily="34" charset="-120"/>
              </a:rPr>
              <a:t>Dificultades:</a:t>
            </a:r>
            <a:r>
              <a:rPr lang="en-US" sz="1700" dirty="0">
                <a:solidFill>
                  <a:srgbClr val="2A1A1D"/>
                </a:solidFill>
                <a:latin typeface="Public Sans" pitchFamily="34" charset="0"/>
                <a:ea typeface="Public Sans" pitchFamily="34" charset="-122"/>
                <a:cs typeface="Public Sans" pitchFamily="34" charset="-120"/>
              </a:rPr>
              <a:t> oclusiones, cámara gran angular, reflejos y cruces en paralelo. </a:t>
            </a:r>
            <a:r>
              <a:rPr lang="en-US" sz="1700" b="1" dirty="0">
                <a:solidFill>
                  <a:srgbClr val="2A1A1D"/>
                </a:solidFill>
                <a:latin typeface="Public Sans" pitchFamily="34" charset="0"/>
                <a:ea typeface="Public Sans" pitchFamily="34" charset="-122"/>
                <a:cs typeface="Public Sans" pitchFamily="34" charset="-120"/>
              </a:rPr>
              <a:t>Regla de oro:</a:t>
            </a:r>
            <a:r>
              <a:rPr lang="en-US" sz="1700" dirty="0">
                <a:solidFill>
                  <a:srgbClr val="2A1A1D"/>
                </a:solidFill>
                <a:latin typeface="Public Sans" pitchFamily="34" charset="0"/>
                <a:ea typeface="Public Sans" pitchFamily="34" charset="-122"/>
                <a:cs typeface="Public Sans" pitchFamily="34" charset="-120"/>
              </a:rPr>
              <a:t> sin identidad </a:t>
            </a:r>
            <a:r>
              <a:rPr lang="en-US" sz="1700" b="1" dirty="0">
                <a:solidFill>
                  <a:srgbClr val="2A1A1D"/>
                </a:solidFill>
                <a:latin typeface="Public Sans" pitchFamily="34" charset="0"/>
                <a:ea typeface="Public Sans" pitchFamily="34" charset="-122"/>
                <a:cs typeface="Public Sans" pitchFamily="34" charset="-120"/>
              </a:rPr>
              <a:t>persistente</a:t>
            </a:r>
            <a:r>
              <a:rPr lang="en-US" sz="1700" dirty="0">
                <a:solidFill>
                  <a:srgbClr val="2A1A1D"/>
                </a:solidFill>
                <a:latin typeface="Public Sans" pitchFamily="34" charset="0"/>
                <a:ea typeface="Public Sans" pitchFamily="34" charset="-122"/>
                <a:cs typeface="Public Sans" pitchFamily="34" charset="-120"/>
              </a:rPr>
              <a:t> no hay mapa de calor ni conteo confiables.</a:t>
            </a:r>
            <a:endParaRPr lang="en-US" sz="1700" dirty="0"/>
          </a:p>
        </p:txBody>
      </p:sp>
      <p:sp>
        <p:nvSpPr>
          <p:cNvPr id="15" name="Text 13"/>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6D"/>
                </a:solidFill>
                <a:latin typeface="Public Sans" pitchFamily="34" charset="0"/>
                <a:ea typeface="Public Sans" pitchFamily="34" charset="-122"/>
                <a:cs typeface="Public Sans" pitchFamily="34" charset="-120"/>
              </a:rPr>
              <a:t>UIDE · Visión por Computadora · Analítica de Ocupación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F1"/>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7A1E2C"/>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A1E2C"/>
                </a:solidFill>
                <a:latin typeface="Montserrat" pitchFamily="34" charset="0"/>
                <a:ea typeface="Montserrat" pitchFamily="34" charset="-122"/>
                <a:cs typeface="Montserrat" pitchFamily="34" charset="-120"/>
              </a:rPr>
              <a:t>PIPELINE · TRACKING-BY-DETECTION</a:t>
            </a:r>
            <a:endParaRPr lang="en-US" sz="1300" dirty="0"/>
          </a:p>
        </p:txBody>
      </p:sp>
      <p:sp>
        <p:nvSpPr>
          <p:cNvPr id="4" name="Text 2"/>
          <p:cNvSpPr/>
          <p:nvPr>
            <p:ph type="title"/>
          </p:nvPr>
        </p:nvSpPr>
        <p:spPr>
          <a:xfrm>
            <a:off x="812800" y="1145541"/>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2A1A1D"/>
                </a:solidFill>
                <a:latin typeface="Montserrat" pitchFamily="34" charset="0"/>
                <a:ea typeface="Montserrat" pitchFamily="34" charset="-122"/>
                <a:cs typeface="Montserrat" pitchFamily="34" charset="-120"/>
              </a:rPr>
              <a:t>Del video de videovigilancia a la analítica de ocupación</a:t>
            </a:r>
            <a:endParaRPr lang="en-US" sz="3000" dirty="0"/>
          </a:p>
        </p:txBody>
      </p:sp>
      <p:sp>
        <p:nvSpPr>
          <p:cNvPr id="5" name="Shape 3"/>
          <p:cNvSpPr/>
          <p:nvPr/>
        </p:nvSpPr>
        <p:spPr>
          <a:xfrm>
            <a:off x="815975" y="1872616"/>
            <a:ext cx="2520950" cy="1271270"/>
          </a:xfrm>
          <a:prstGeom prst="roundRect">
            <a:avLst>
              <a:gd name="adj" fmla="val 5744"/>
            </a:avLst>
          </a:prstGeom>
          <a:solidFill>
            <a:srgbClr val="FFFFFF"/>
          </a:solidFill>
          <a:ln w="6350">
            <a:solidFill>
              <a:srgbClr val="E6DCD8"/>
            </a:solidFill>
            <a:prstDash val="solid"/>
          </a:ln>
        </p:spPr>
      </p:sp>
      <p:sp>
        <p:nvSpPr>
          <p:cNvPr id="6" name="Text 4"/>
          <p:cNvSpPr/>
          <p:nvPr/>
        </p:nvSpPr>
        <p:spPr>
          <a:xfrm>
            <a:off x="995680" y="2052320"/>
            <a:ext cx="22263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1E2C"/>
                </a:solidFill>
                <a:latin typeface="Montserrat" pitchFamily="34" charset="0"/>
                <a:ea typeface="Montserrat" pitchFamily="34" charset="-122"/>
                <a:cs typeface="Montserrat" pitchFamily="34" charset="-120"/>
              </a:rPr>
              <a:t>1 · Exploración</a:t>
            </a:r>
            <a:endParaRPr lang="en-US" sz="1300" dirty="0"/>
          </a:p>
        </p:txBody>
      </p:sp>
      <p:sp>
        <p:nvSpPr>
          <p:cNvPr id="7" name="Text 5"/>
          <p:cNvSpPr/>
          <p:nvPr/>
        </p:nvSpPr>
        <p:spPr>
          <a:xfrm>
            <a:off x="995680" y="2346961"/>
            <a:ext cx="222638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Revisar flujo, zonas y ángulo de cámara antes de programar</a:t>
            </a:r>
            <a:endParaRPr lang="en-US" sz="1200" dirty="0"/>
          </a:p>
        </p:txBody>
      </p:sp>
      <p:sp>
        <p:nvSpPr>
          <p:cNvPr id="8" name="Shape 6"/>
          <p:cNvSpPr/>
          <p:nvPr/>
        </p:nvSpPr>
        <p:spPr>
          <a:xfrm>
            <a:off x="3495675" y="1872616"/>
            <a:ext cx="2520950" cy="1271270"/>
          </a:xfrm>
          <a:prstGeom prst="roundRect">
            <a:avLst>
              <a:gd name="adj" fmla="val 5744"/>
            </a:avLst>
          </a:prstGeom>
          <a:solidFill>
            <a:srgbClr val="FFFFFF"/>
          </a:solidFill>
          <a:ln w="6350">
            <a:solidFill>
              <a:srgbClr val="E6DCD8"/>
            </a:solidFill>
            <a:prstDash val="solid"/>
          </a:ln>
        </p:spPr>
      </p:sp>
      <p:sp>
        <p:nvSpPr>
          <p:cNvPr id="9" name="Text 7"/>
          <p:cNvSpPr/>
          <p:nvPr/>
        </p:nvSpPr>
        <p:spPr>
          <a:xfrm>
            <a:off x="3675380" y="2052320"/>
            <a:ext cx="22263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1E2C"/>
                </a:solidFill>
                <a:latin typeface="Montserrat" pitchFamily="34" charset="0"/>
                <a:ea typeface="Montserrat" pitchFamily="34" charset="-122"/>
                <a:cs typeface="Montserrat" pitchFamily="34" charset="-120"/>
              </a:rPr>
              <a:t>2 · Detección</a:t>
            </a:r>
            <a:endParaRPr lang="en-US" sz="1300" dirty="0"/>
          </a:p>
        </p:txBody>
      </p:sp>
      <p:sp>
        <p:nvSpPr>
          <p:cNvPr id="10" name="Text 8"/>
          <p:cNvSpPr/>
          <p:nvPr/>
        </p:nvSpPr>
        <p:spPr>
          <a:xfrm>
            <a:off x="3675380" y="2346961"/>
            <a:ext cx="222638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YOLOv26 detecta personas (clase 0) en cada cuadro</a:t>
            </a:r>
            <a:endParaRPr lang="en-US" sz="1200" dirty="0"/>
          </a:p>
        </p:txBody>
      </p:sp>
      <p:sp>
        <p:nvSpPr>
          <p:cNvPr id="11" name="Shape 9"/>
          <p:cNvSpPr/>
          <p:nvPr/>
        </p:nvSpPr>
        <p:spPr>
          <a:xfrm>
            <a:off x="6175375" y="1872616"/>
            <a:ext cx="2520950" cy="1271270"/>
          </a:xfrm>
          <a:prstGeom prst="roundRect">
            <a:avLst>
              <a:gd name="adj" fmla="val 5744"/>
            </a:avLst>
          </a:prstGeom>
          <a:solidFill>
            <a:srgbClr val="FFFFFF"/>
          </a:solidFill>
          <a:ln w="6350">
            <a:solidFill>
              <a:srgbClr val="E6DCD8"/>
            </a:solidFill>
            <a:prstDash val="solid"/>
          </a:ln>
        </p:spPr>
      </p:sp>
      <p:sp>
        <p:nvSpPr>
          <p:cNvPr id="12" name="Text 10"/>
          <p:cNvSpPr/>
          <p:nvPr/>
        </p:nvSpPr>
        <p:spPr>
          <a:xfrm>
            <a:off x="6355080" y="2052320"/>
            <a:ext cx="22263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1E2C"/>
                </a:solidFill>
                <a:latin typeface="Montserrat" pitchFamily="34" charset="0"/>
                <a:ea typeface="Montserrat" pitchFamily="34" charset="-122"/>
                <a:cs typeface="Montserrat" pitchFamily="34" charset="-120"/>
              </a:rPr>
              <a:t>3 · Tracking</a:t>
            </a:r>
            <a:endParaRPr lang="en-US" sz="1300" dirty="0"/>
          </a:p>
        </p:txBody>
      </p:sp>
      <p:sp>
        <p:nvSpPr>
          <p:cNvPr id="13" name="Text 11"/>
          <p:cNvSpPr/>
          <p:nvPr/>
        </p:nvSpPr>
        <p:spPr>
          <a:xfrm>
            <a:off x="6355080" y="2346961"/>
            <a:ext cx="222638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ByteTrack asocia por IoU y mantiene el ID (identidad persistente)</a:t>
            </a:r>
            <a:endParaRPr lang="en-US" sz="1200" dirty="0"/>
          </a:p>
        </p:txBody>
      </p:sp>
      <p:sp>
        <p:nvSpPr>
          <p:cNvPr id="14" name="Shape 12"/>
          <p:cNvSpPr/>
          <p:nvPr/>
        </p:nvSpPr>
        <p:spPr>
          <a:xfrm>
            <a:off x="8855075" y="1872616"/>
            <a:ext cx="2520950" cy="1271270"/>
          </a:xfrm>
          <a:prstGeom prst="roundRect">
            <a:avLst>
              <a:gd name="adj" fmla="val 5744"/>
            </a:avLst>
          </a:prstGeom>
          <a:solidFill>
            <a:srgbClr val="FFFFFF"/>
          </a:solidFill>
          <a:ln w="6350">
            <a:solidFill>
              <a:srgbClr val="E6DCD8"/>
            </a:solidFill>
            <a:prstDash val="solid"/>
          </a:ln>
        </p:spPr>
      </p:sp>
      <p:sp>
        <p:nvSpPr>
          <p:cNvPr id="15" name="Text 13"/>
          <p:cNvSpPr/>
          <p:nvPr/>
        </p:nvSpPr>
        <p:spPr>
          <a:xfrm>
            <a:off x="9034780" y="2052320"/>
            <a:ext cx="22263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1E2C"/>
                </a:solidFill>
                <a:latin typeface="Montserrat" pitchFamily="34" charset="0"/>
                <a:ea typeface="Montserrat" pitchFamily="34" charset="-122"/>
                <a:cs typeface="Montserrat" pitchFamily="34" charset="-120"/>
              </a:rPr>
              <a:t>4 · Estela</a:t>
            </a:r>
            <a:endParaRPr lang="en-US" sz="1300" dirty="0"/>
          </a:p>
        </p:txBody>
      </p:sp>
      <p:sp>
        <p:nvSpPr>
          <p:cNvPr id="16" name="Text 14"/>
          <p:cNvSpPr/>
          <p:nvPr/>
        </p:nvSpPr>
        <p:spPr>
          <a:xfrm>
            <a:off x="9034780" y="2346961"/>
            <a:ext cx="222638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Centroide por persona y cola que se desvanece con el tiempo</a:t>
            </a:r>
            <a:endParaRPr lang="en-US" sz="1200" dirty="0"/>
          </a:p>
        </p:txBody>
      </p:sp>
      <p:sp>
        <p:nvSpPr>
          <p:cNvPr id="17" name="Shape 15"/>
          <p:cNvSpPr/>
          <p:nvPr/>
        </p:nvSpPr>
        <p:spPr>
          <a:xfrm>
            <a:off x="815975" y="3302636"/>
            <a:ext cx="2520950" cy="1477010"/>
          </a:xfrm>
          <a:prstGeom prst="roundRect">
            <a:avLst>
              <a:gd name="adj" fmla="val 4944"/>
            </a:avLst>
          </a:prstGeom>
          <a:solidFill>
            <a:srgbClr val="FFFFFF"/>
          </a:solidFill>
          <a:ln w="6350">
            <a:solidFill>
              <a:srgbClr val="E6DCD8"/>
            </a:solidFill>
            <a:prstDash val="solid"/>
          </a:ln>
        </p:spPr>
      </p:sp>
      <p:sp>
        <p:nvSpPr>
          <p:cNvPr id="18" name="Text 16"/>
          <p:cNvSpPr/>
          <p:nvPr/>
        </p:nvSpPr>
        <p:spPr>
          <a:xfrm>
            <a:off x="995680" y="3482341"/>
            <a:ext cx="22263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1E2C"/>
                </a:solidFill>
                <a:latin typeface="Montserrat" pitchFamily="34" charset="0"/>
                <a:ea typeface="Montserrat" pitchFamily="34" charset="-122"/>
                <a:cs typeface="Montserrat" pitchFamily="34" charset="-120"/>
              </a:rPr>
              <a:t>5 · Mapa de calor</a:t>
            </a:r>
            <a:endParaRPr lang="en-US" sz="1300" dirty="0"/>
          </a:p>
        </p:txBody>
      </p:sp>
      <p:sp>
        <p:nvSpPr>
          <p:cNvPr id="19" name="Text 17"/>
          <p:cNvSpPr/>
          <p:nvPr/>
        </p:nvSpPr>
        <p:spPr>
          <a:xfrm>
            <a:off x="995680" y="3776980"/>
            <a:ext cx="2226386"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Acumula centroides en una grilla del plano de la escena</a:t>
            </a:r>
            <a:endParaRPr lang="en-US" sz="1200" dirty="0"/>
          </a:p>
        </p:txBody>
      </p:sp>
      <p:sp>
        <p:nvSpPr>
          <p:cNvPr id="20" name="Shape 18"/>
          <p:cNvSpPr/>
          <p:nvPr/>
        </p:nvSpPr>
        <p:spPr>
          <a:xfrm>
            <a:off x="3495675" y="3302636"/>
            <a:ext cx="2520950" cy="1477010"/>
          </a:xfrm>
          <a:prstGeom prst="roundRect">
            <a:avLst>
              <a:gd name="adj" fmla="val 4944"/>
            </a:avLst>
          </a:prstGeom>
          <a:solidFill>
            <a:srgbClr val="FFFFFF"/>
          </a:solidFill>
          <a:ln w="6350">
            <a:solidFill>
              <a:srgbClr val="E6DCD8"/>
            </a:solidFill>
            <a:prstDash val="solid"/>
          </a:ln>
        </p:spPr>
      </p:sp>
      <p:sp>
        <p:nvSpPr>
          <p:cNvPr id="21" name="Text 19"/>
          <p:cNvSpPr/>
          <p:nvPr/>
        </p:nvSpPr>
        <p:spPr>
          <a:xfrm>
            <a:off x="3675380" y="3482341"/>
            <a:ext cx="22263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1E2C"/>
                </a:solidFill>
                <a:latin typeface="Montserrat" pitchFamily="34" charset="0"/>
                <a:ea typeface="Montserrat" pitchFamily="34" charset="-122"/>
                <a:cs typeface="Montserrat" pitchFamily="34" charset="-120"/>
              </a:rPr>
              <a:t>6 · Línea virtual</a:t>
            </a:r>
            <a:endParaRPr lang="en-US" sz="1300" dirty="0"/>
          </a:p>
        </p:txBody>
      </p:sp>
      <p:sp>
        <p:nvSpPr>
          <p:cNvPr id="22" name="Text 20"/>
          <p:cNvSpPr/>
          <p:nvPr/>
        </p:nvSpPr>
        <p:spPr>
          <a:xfrm>
            <a:off x="3675380" y="3776980"/>
            <a:ext cx="222638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Conteo direccional de cruces sobre el corredor de ingreso</a:t>
            </a:r>
            <a:endParaRPr lang="en-US" sz="1200" dirty="0"/>
          </a:p>
        </p:txBody>
      </p:sp>
      <p:sp>
        <p:nvSpPr>
          <p:cNvPr id="23" name="Shape 21"/>
          <p:cNvSpPr/>
          <p:nvPr/>
        </p:nvSpPr>
        <p:spPr>
          <a:xfrm>
            <a:off x="6175375" y="3302636"/>
            <a:ext cx="2520950" cy="1477010"/>
          </a:xfrm>
          <a:prstGeom prst="roundRect">
            <a:avLst>
              <a:gd name="adj" fmla="val 4944"/>
            </a:avLst>
          </a:prstGeom>
          <a:solidFill>
            <a:srgbClr val="FFFFFF"/>
          </a:solidFill>
          <a:ln w="6350">
            <a:solidFill>
              <a:srgbClr val="E6DCD8"/>
            </a:solidFill>
            <a:prstDash val="solid"/>
          </a:ln>
        </p:spPr>
      </p:sp>
      <p:sp>
        <p:nvSpPr>
          <p:cNvPr id="24" name="Text 22"/>
          <p:cNvSpPr/>
          <p:nvPr/>
        </p:nvSpPr>
        <p:spPr>
          <a:xfrm>
            <a:off x="6355080" y="3482341"/>
            <a:ext cx="22263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1E2C"/>
                </a:solidFill>
                <a:latin typeface="Montserrat" pitchFamily="34" charset="0"/>
                <a:ea typeface="Montserrat" pitchFamily="34" charset="-122"/>
                <a:cs typeface="Montserrat" pitchFamily="34" charset="-120"/>
              </a:rPr>
              <a:t>7 · Sin duplicar</a:t>
            </a:r>
            <a:endParaRPr lang="en-US" sz="1300" dirty="0"/>
          </a:p>
        </p:txBody>
      </p:sp>
      <p:sp>
        <p:nvSpPr>
          <p:cNvPr id="25" name="Text 23"/>
          <p:cNvSpPr/>
          <p:nvPr/>
        </p:nvSpPr>
        <p:spPr>
          <a:xfrm>
            <a:off x="6355080" y="3776980"/>
            <a:ext cx="222638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Cada ID se cuenta una sola vez por dirección</a:t>
            </a:r>
            <a:endParaRPr lang="en-US" sz="1200" dirty="0"/>
          </a:p>
        </p:txBody>
      </p:sp>
      <p:sp>
        <p:nvSpPr>
          <p:cNvPr id="26" name="Shape 24"/>
          <p:cNvSpPr/>
          <p:nvPr/>
        </p:nvSpPr>
        <p:spPr>
          <a:xfrm>
            <a:off x="8855075" y="3302636"/>
            <a:ext cx="2520950" cy="1477010"/>
          </a:xfrm>
          <a:prstGeom prst="roundRect">
            <a:avLst>
              <a:gd name="adj" fmla="val 4944"/>
            </a:avLst>
          </a:prstGeom>
          <a:solidFill>
            <a:srgbClr val="FFFFFF"/>
          </a:solidFill>
          <a:ln w="6350">
            <a:solidFill>
              <a:srgbClr val="E6DCD8"/>
            </a:solidFill>
            <a:prstDash val="solid"/>
          </a:ln>
        </p:spPr>
      </p:sp>
      <p:sp>
        <p:nvSpPr>
          <p:cNvPr id="27" name="Text 25"/>
          <p:cNvSpPr/>
          <p:nvPr/>
        </p:nvSpPr>
        <p:spPr>
          <a:xfrm>
            <a:off x="9034780" y="3482341"/>
            <a:ext cx="22263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A1E2C"/>
                </a:solidFill>
                <a:latin typeface="Montserrat" pitchFamily="34" charset="0"/>
                <a:ea typeface="Montserrat" pitchFamily="34" charset="-122"/>
                <a:cs typeface="Montserrat" pitchFamily="34" charset="-120"/>
              </a:rPr>
              <a:t>8 · Reflexión</a:t>
            </a:r>
            <a:endParaRPr lang="en-US" sz="1300" dirty="0"/>
          </a:p>
        </p:txBody>
      </p:sp>
      <p:sp>
        <p:nvSpPr>
          <p:cNvPr id="28" name="Text 26"/>
          <p:cNvSpPr/>
          <p:nvPr/>
        </p:nvSpPr>
        <p:spPr>
          <a:xfrm>
            <a:off x="9034780" y="3776980"/>
            <a:ext cx="2226386" cy="8483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Límites: oclusiones, cambios de ID y cruces en paralelo</a:t>
            </a:r>
            <a:endParaRPr lang="en-US" sz="1200" dirty="0"/>
          </a:p>
        </p:txBody>
      </p:sp>
      <p:sp>
        <p:nvSpPr>
          <p:cNvPr id="29" name="Text 27"/>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6D"/>
                </a:solidFill>
                <a:latin typeface="Public Sans" pitchFamily="34" charset="0"/>
                <a:ea typeface="Public Sans" pitchFamily="34" charset="-122"/>
                <a:cs typeface="Public Sans" pitchFamily="34" charset="-120"/>
              </a:rPr>
              <a:t>Una sola pasada del detector alimenta los tres productos · cómputo en GPU de Apple (MPS)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F1"/>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7A1E2C"/>
          </a:solidFill>
          <a:ln/>
        </p:spPr>
      </p:sp>
      <p:sp>
        <p:nvSpPr>
          <p:cNvPr id="3" name="Text 1"/>
          <p:cNvSpPr/>
          <p:nvPr/>
        </p:nvSpPr>
        <p:spPr>
          <a:xfrm>
            <a:off x="812800" y="812800"/>
            <a:ext cx="10883392" cy="247253"/>
          </a:xfrm>
          <a:prstGeom prst="rect">
            <a:avLst/>
          </a:prstGeom>
          <a:noFill/>
          <a:ln/>
        </p:spPr>
        <p:txBody>
          <a:bodyPr wrap="square" lIns="0" tIns="0" rIns="0" bIns="0" rtlCol="0" anchor="t">
            <a:normAutofit/>
          </a:bodyPr>
          <a:lstStyle/>
          <a:p>
            <a:pPr algn="l" indent="0" marL="0">
              <a:lnSpc>
                <a:spcPts val="1774"/>
              </a:lnSpc>
              <a:buNone/>
            </a:pPr>
            <a:r>
              <a:rPr lang="en-US" sz="1268" b="1" spc="150" kern="0" dirty="0">
                <a:solidFill>
                  <a:srgbClr val="7A1E2C"/>
                </a:solidFill>
                <a:latin typeface="Montserrat" pitchFamily="34" charset="0"/>
                <a:ea typeface="Montserrat" pitchFamily="34" charset="-122"/>
                <a:cs typeface="Montserrat" pitchFamily="34" charset="-120"/>
              </a:rPr>
              <a:t>PARTE 1 · EXPLORACIÓN Y TRACKING (PASOS 1–2)</a:t>
            </a:r>
            <a:endParaRPr lang="en-US" sz="1268" dirty="0"/>
          </a:p>
        </p:txBody>
      </p:sp>
      <p:sp>
        <p:nvSpPr>
          <p:cNvPr id="4" name="Text 2"/>
          <p:cNvSpPr/>
          <p:nvPr>
            <p:ph type="title"/>
          </p:nvPr>
        </p:nvSpPr>
        <p:spPr>
          <a:xfrm>
            <a:off x="812800" y="1110853"/>
            <a:ext cx="11379200" cy="776129"/>
          </a:xfrm>
          <a:prstGeom prst="rect">
            <a:avLst/>
          </a:prstGeom>
          <a:noFill/>
          <a:ln/>
        </p:spPr>
        <p:txBody>
          <a:bodyPr wrap="square" lIns="0" tIns="0" rIns="0" bIns="0" rtlCol="0" anchor="t">
            <a:normAutofit/>
          </a:bodyPr>
          <a:lstStyle/>
          <a:p>
            <a:pPr algn="l" indent="0" marL="0">
              <a:lnSpc>
                <a:spcPts val="2964"/>
              </a:lnSpc>
              <a:buNone/>
            </a:pPr>
            <a:r>
              <a:rPr lang="en-US" sz="2695" b="1" i="0" dirty="0">
                <a:solidFill>
                  <a:srgbClr val="2A1A1D"/>
                </a:solidFill>
                <a:latin typeface="Montserrat" pitchFamily="34" charset="0"/>
                <a:ea typeface="Montserrat" pitchFamily="34" charset="-122"/>
                <a:cs typeface="Montserrat" pitchFamily="34" charset="-120"/>
              </a:rPr>
              <a:t>Detectamos y seguimos a cada persona con identidad persistente</a:t>
            </a:r>
            <a:endParaRPr lang="en-US" sz="2695" dirty="0"/>
          </a:p>
        </p:txBody>
      </p:sp>
      <p:sp>
        <p:nvSpPr>
          <p:cNvPr id="5" name="Shape 3"/>
          <p:cNvSpPr/>
          <p:nvPr/>
        </p:nvSpPr>
        <p:spPr>
          <a:xfrm>
            <a:off x="812800" y="2090182"/>
            <a:ext cx="10566400" cy="2139156"/>
          </a:xfrm>
          <a:prstGeom prst="roundRect">
            <a:avLst>
              <a:gd name="adj" fmla="val 3562"/>
            </a:avLst>
          </a:prstGeom>
          <a:solidFill>
            <a:srgbClr val="FFFFFF"/>
          </a:solidFill>
          <a:ln/>
        </p:spPr>
      </p:sp>
      <p:pic>
        <p:nvPicPr>
          <p:cNvPr id="6" name="Image 0" descr="Tres cuadros del video con tracking: cada persona con su caja, su ID y la cola de seguimiento">    </p:cNvPr>
          <p:cNvPicPr>
            <a:picLocks noChangeAspect="1"/>
          </p:cNvPicPr>
          <p:nvPr/>
        </p:nvPicPr>
        <p:blipFill>
          <a:blip r:embed="rId1"/>
          <a:stretch>
            <a:fillRect/>
          </a:stretch>
        </p:blipFill>
        <p:spPr>
          <a:xfrm>
            <a:off x="1549061" y="2090182"/>
            <a:ext cx="9093879" cy="2139156"/>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4468099"/>
          <a:ext cx="10556240" cy="1374775"/>
        </p:xfrm>
        <a:graphic>
          <a:graphicData uri="http://schemas.openxmlformats.org/drawingml/2006/table">
            <a:tbl>
              <a:tblPr/>
              <a:tblGrid>
                <a:gridCol w="2744622"/>
                <a:gridCol w="1688998"/>
                <a:gridCol w="1688998"/>
                <a:gridCol w="4433621"/>
              </a:tblGrid>
              <a:tr h="343694">
                <a:tc>
                  <a:txBody>
                    <a:bodyPr/>
                    <a:lstStyle/>
                    <a:p>
                      <a:pPr indent="0" marL="0">
                        <a:lnSpc>
                          <a:spcPts val="1752"/>
                        </a:lnSpc>
                        <a:buNone/>
                      </a:pPr>
                      <a:r>
                        <a:rPr lang="en-US" sz="1251" b="1" dirty="0">
                          <a:solidFill>
                            <a:srgbClr val="F7F2EE"/>
                          </a:solidFill>
                          <a:latin typeface="Public Sans" pitchFamily="34" charset="0"/>
                          <a:ea typeface="Public Sans" pitchFamily="34" charset="-122"/>
                          <a:cs typeface="Public Sans" pitchFamily="34" charset="-120"/>
                        </a:rPr>
                        <a:t>Aspecto</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641C27"/>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641C27"/>
                      </a:solidFill>
                      <a:prstDash val="solid"/>
                      <a:round/>
                      <a:headEnd type="none" w="med" len="med"/>
                      <a:tailEnd type="none" w="med" len="med"/>
                    </a:lnB>
                    <a:solidFill>
                      <a:srgbClr val="7A1E2C"/>
                    </a:solidFill>
                  </a:tcPr>
                </a:tc>
                <a:tc>
                  <a:txBody>
                    <a:bodyPr/>
                    <a:lstStyle/>
                    <a:p>
                      <a:pPr algn="ctr" indent="0" marL="0">
                        <a:lnSpc>
                          <a:spcPts val="1752"/>
                        </a:lnSpc>
                        <a:buNone/>
                      </a:pPr>
                      <a:r>
                        <a:rPr lang="en-US" sz="1251" b="1" dirty="0">
                          <a:solidFill>
                            <a:srgbClr val="F7F2EE"/>
                          </a:solidFill>
                          <a:latin typeface="Public Sans" pitchFamily="34" charset="0"/>
                          <a:ea typeface="Public Sans" pitchFamily="34" charset="-122"/>
                          <a:cs typeface="Public Sans" pitchFamily="34" charset="-120"/>
                        </a:rPr>
                        <a:t>Dato</a:t>
                      </a:r>
                      <a:endParaRPr lang="en-US" sz="1251" dirty="0">
                        <a:latin typeface="Public Sans" charset="0"/>
                        <a:ea typeface="Public Sans" charset="0"/>
                        <a:cs typeface="Public Sans" charset="0"/>
                      </a:endParaRPr>
                    </a:p>
                  </a:txBody>
                  <a:tcPr marL="55618" marR="55618" marT="55618" marB="55618" anchor="t">
                    <a:lnL w="12700" cap="flat" cmpd="sng" algn="ctr">
                      <a:solidFill>
                        <a:srgbClr val="641C27"/>
                      </a:solidFill>
                      <a:prstDash val="solid"/>
                      <a:round/>
                      <a:headEnd type="none" w="med" len="med"/>
                      <a:tailEnd type="none" w="med" len="med"/>
                    </a:lnL>
                    <a:lnR w="12700" cap="flat" cmpd="sng" algn="ctr">
                      <a:solidFill>
                        <a:srgbClr val="641C27"/>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641C27"/>
                      </a:solidFill>
                      <a:prstDash val="solid"/>
                      <a:round/>
                      <a:headEnd type="none" w="med" len="med"/>
                      <a:tailEnd type="none" w="med" len="med"/>
                    </a:lnB>
                    <a:solidFill>
                      <a:srgbClr val="7A1E2C"/>
                    </a:solidFill>
                  </a:tcPr>
                </a:tc>
                <a:tc>
                  <a:txBody>
                    <a:bodyPr/>
                    <a:lstStyle/>
                    <a:p>
                      <a:pPr algn="ctr" indent="0" marL="0">
                        <a:lnSpc>
                          <a:spcPts val="1752"/>
                        </a:lnSpc>
                        <a:buNone/>
                      </a:pPr>
                      <a:r>
                        <a:rPr lang="en-US" sz="1251" b="1" dirty="0">
                          <a:solidFill>
                            <a:srgbClr val="F7F2EE"/>
                          </a:solidFill>
                          <a:latin typeface="Public Sans" pitchFamily="34" charset="0"/>
                          <a:ea typeface="Public Sans" pitchFamily="34" charset="-122"/>
                          <a:cs typeface="Public Sans" pitchFamily="34" charset="-120"/>
                        </a:rPr>
                        <a:t>Detalle</a:t>
                      </a:r>
                      <a:endParaRPr lang="en-US" sz="1251" dirty="0">
                        <a:latin typeface="Public Sans" charset="0"/>
                        <a:ea typeface="Public Sans" charset="0"/>
                        <a:cs typeface="Public Sans" charset="0"/>
                      </a:endParaRPr>
                    </a:p>
                  </a:txBody>
                  <a:tcPr marL="55618" marR="55618" marT="55618" marB="55618" anchor="t">
                    <a:lnL w="12700" cap="flat" cmpd="sng" algn="ctr">
                      <a:solidFill>
                        <a:srgbClr val="641C27"/>
                      </a:solidFill>
                      <a:prstDash val="solid"/>
                      <a:round/>
                      <a:headEnd type="none" w="med" len="med"/>
                      <a:tailEnd type="none" w="med" len="med"/>
                    </a:lnL>
                    <a:lnR w="12700" cap="flat" cmpd="sng" algn="ctr">
                      <a:solidFill>
                        <a:srgbClr val="641C27"/>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641C27"/>
                      </a:solidFill>
                      <a:prstDash val="solid"/>
                      <a:round/>
                      <a:headEnd type="none" w="med" len="med"/>
                      <a:tailEnd type="none" w="med" len="med"/>
                    </a:lnB>
                    <a:solidFill>
                      <a:srgbClr val="7A1E2C"/>
                    </a:solidFill>
                  </a:tcPr>
                </a:tc>
                <a:tc>
                  <a:txBody>
                    <a:bodyPr/>
                    <a:lstStyle/>
                    <a:p>
                      <a:pPr indent="0" marL="0">
                        <a:lnSpc>
                          <a:spcPts val="1752"/>
                        </a:lnSpc>
                        <a:buNone/>
                      </a:pPr>
                      <a:r>
                        <a:rPr lang="en-US" sz="1251" b="1" dirty="0">
                          <a:solidFill>
                            <a:srgbClr val="F7F2EE"/>
                          </a:solidFill>
                          <a:latin typeface="Public Sans" pitchFamily="34" charset="0"/>
                          <a:ea typeface="Public Sans" pitchFamily="34" charset="-122"/>
                          <a:cs typeface="Public Sans" pitchFamily="34" charset="-120"/>
                        </a:rPr>
                        <a:t>Implicación</a:t>
                      </a:r>
                      <a:endParaRPr lang="en-US" sz="1251" dirty="0">
                        <a:latin typeface="Public Sans" charset="0"/>
                        <a:ea typeface="Public Sans" charset="0"/>
                        <a:cs typeface="Public Sans" charset="0"/>
                      </a:endParaRPr>
                    </a:p>
                  </a:txBody>
                  <a:tcPr marL="55618" marR="55618" marT="55618" marB="55618" anchor="t">
                    <a:lnL w="12700" cap="flat" cmpd="sng" algn="ctr">
                      <a:solidFill>
                        <a:srgbClr val="641C27"/>
                      </a:solidFill>
                      <a:prstDash val="solid"/>
                      <a:round/>
                      <a:headEnd type="none" w="med" len="med"/>
                      <a:tailEnd type="none" w="med" len="med"/>
                    </a:lnL>
                    <a:lnR w="12700" cap="flat" cmpd="sng" algn="ctr">
                      <a:solidFill>
                        <a:srgbClr val="641C27"/>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641C27"/>
                      </a:solidFill>
                      <a:prstDash val="solid"/>
                      <a:round/>
                      <a:headEnd type="none" w="med" len="med"/>
                      <a:tailEnd type="none" w="med" len="med"/>
                    </a:lnB>
                    <a:solidFill>
                      <a:srgbClr val="7A1E2C"/>
                    </a:solidFill>
                  </a:tcPr>
                </a:tc>
              </a:tr>
              <a:tr h="343694">
                <a:tc>
                  <a:txBody>
                    <a:bodyPr/>
                    <a:lstStyle/>
                    <a:p>
                      <a:pP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Video (La Carolina)</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641C27"/>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10 642</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641C27"/>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cuadros · 1280×720 · 30 fps</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641C27"/>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~355 s de videovigilancia real</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641C27"/>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r>
              <a:tr h="343694">
                <a:tc>
                  <a:txBody>
                    <a:bodyPr/>
                    <a:lstStyle/>
                    <a:p>
                      <a:pP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Cámara</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algn="ct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Gran angular</a:t>
                      </a:r>
                      <a:endParaRPr lang="en-US" sz="1251" dirty="0">
                        <a:latin typeface="Public Sans" charset="0"/>
                        <a:ea typeface="Public Sans" charset="0"/>
                        <a:cs typeface="Public Sans" charset="0"/>
                      </a:endParaRPr>
                    </a:p>
                  </a:txBody>
                  <a:tcPr marL="55618" marR="55618" marT="55618" marB="55618"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algn="ct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ángulo lateral/oblicuo</a:t>
                      </a:r>
                      <a:endParaRPr lang="en-US" sz="1251" dirty="0">
                        <a:latin typeface="Public Sans" charset="0"/>
                        <a:ea typeface="Public Sans" charset="0"/>
                        <a:cs typeface="Public Sans" charset="0"/>
                      </a:endParaRPr>
                    </a:p>
                  </a:txBody>
                  <a:tcPr marL="55618" marR="55618" marT="55618" marB="55618"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cajas distorsionadas en los bordes</a:t>
                      </a:r>
                      <a:endParaRPr lang="en-US" sz="1251" dirty="0">
                        <a:latin typeface="Public Sans" charset="0"/>
                        <a:ea typeface="Public Sans" charset="0"/>
                        <a:cs typeface="Public Sans" charset="0"/>
                      </a:endParaRPr>
                    </a:p>
                  </a:txBody>
                  <a:tcPr marL="55618" marR="55618" marT="55618" marB="55618"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r>
              <a:tr h="343694">
                <a:tc>
                  <a:txBody>
                    <a:bodyPr/>
                    <a:lstStyle/>
                    <a:p>
                      <a:pP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Tracking</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BFB9B5"/>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292 IDs</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BFB9B5"/>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persistentes con ByteTrack</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BFB9B5"/>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indent="0" marL="0">
                        <a:lnSpc>
                          <a:spcPts val="1752"/>
                        </a:lnSpc>
                        <a:buNone/>
                      </a:pPr>
                      <a:r>
                        <a:rPr lang="en-US" sz="1251" dirty="0">
                          <a:solidFill>
                            <a:srgbClr val="2A1A1D"/>
                          </a:solidFill>
                          <a:latin typeface="Public Sans" pitchFamily="34" charset="0"/>
                          <a:ea typeface="Public Sans" pitchFamily="34" charset="-122"/>
                          <a:cs typeface="Public Sans" pitchFamily="34" charset="-120"/>
                        </a:rPr>
                        <a:t>base del mapa y del conteo</a:t>
                      </a:r>
                      <a:endParaRPr lang="en-US" sz="1251" dirty="0">
                        <a:latin typeface="Public Sans" charset="0"/>
                        <a:ea typeface="Public Sans" charset="0"/>
                        <a:cs typeface="Public Sans" charset="0"/>
                      </a:endParaRPr>
                    </a:p>
                  </a:txBody>
                  <a:tcPr marL="55618" marR="55618" marT="55618" marB="55618"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BFB9B5"/>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r>
            </a:tbl>
          </a:graphicData>
        </a:graphic>
      </p:graphicFrame>
      <p:sp>
        <p:nvSpPr>
          <p:cNvPr id="8" name="Text 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6D"/>
                </a:solidFill>
                <a:latin typeface="Public Sans" pitchFamily="34" charset="0"/>
                <a:ea typeface="Public Sans" pitchFamily="34" charset="-122"/>
                <a:cs typeface="Public Sans" pitchFamily="34" charset="-120"/>
              </a:rPr>
              <a:t>Paso 1: el tránsito se concentra en el corredor del fondo; el primer plano queda casi vacío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F1"/>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7A1E2C"/>
          </a:solidFill>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A1E2C"/>
                </a:solidFill>
                <a:latin typeface="Montserrat" pitchFamily="34" charset="0"/>
                <a:ea typeface="Montserrat" pitchFamily="34" charset="-122"/>
                <a:cs typeface="Montserrat" pitchFamily="34" charset="-120"/>
              </a:rPr>
              <a:t>PARTE 2 · MAPA DE CALOR DE TRÁNSITO (PASO 3)</a:t>
            </a:r>
            <a:endParaRPr lang="en-US" sz="1300" dirty="0"/>
          </a:p>
        </p:txBody>
      </p:sp>
      <p:sp>
        <p:nvSpPr>
          <p:cNvPr id="4" name="Text 2"/>
          <p:cNvSpPr/>
          <p:nvPr>
            <p:ph type="title"/>
          </p:nvPr>
        </p:nvSpPr>
        <p:spPr>
          <a:xfrm>
            <a:off x="812800" y="1120139"/>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2A1A1D"/>
                </a:solidFill>
                <a:latin typeface="Montserrat" pitchFamily="34" charset="0"/>
                <a:ea typeface="Montserrat" pitchFamily="34" charset="-122"/>
                <a:cs typeface="Montserrat" pitchFamily="34" charset="-120"/>
              </a:rPr>
              <a:t>Dónde se concentra el flujo: zonas saturadas y subutilizadas</a:t>
            </a:r>
            <a:endParaRPr lang="en-US" sz="2800" dirty="0"/>
          </a:p>
        </p:txBody>
      </p:sp>
      <p:sp>
        <p:nvSpPr>
          <p:cNvPr id="5" name="Shape 3"/>
          <p:cNvSpPr/>
          <p:nvPr/>
        </p:nvSpPr>
        <p:spPr>
          <a:xfrm>
            <a:off x="812800" y="1739900"/>
            <a:ext cx="10566400" cy="1905000"/>
          </a:xfrm>
          <a:prstGeom prst="roundRect">
            <a:avLst>
              <a:gd name="adj" fmla="val 4000"/>
            </a:avLst>
          </a:prstGeom>
          <a:solidFill>
            <a:srgbClr val="FFFFFF"/>
          </a:solidFill>
          <a:ln/>
        </p:spPr>
      </p:sp>
      <p:pic>
        <p:nvPicPr>
          <p:cNvPr id="6" name="Image 0" descr="Mapa de calor de tránsito superpuesto sobre el corredor de ingreso del centro comercial">    </p:cNvPr>
          <p:cNvPicPr>
            <a:picLocks noChangeAspect="1"/>
          </p:cNvPicPr>
          <p:nvPr/>
        </p:nvPicPr>
        <p:blipFill>
          <a:blip r:embed="rId1"/>
          <a:stretch>
            <a:fillRect/>
          </a:stretch>
        </p:blipFill>
        <p:spPr>
          <a:xfrm>
            <a:off x="1596838" y="1739900"/>
            <a:ext cx="8998324" cy="1905000"/>
          </a:xfrm>
          <a:prstGeom prst="rect">
            <a:avLst/>
          </a:prstGeom>
        </p:spPr>
      </p:pic>
      <p:sp>
        <p:nvSpPr>
          <p:cNvPr id="7" name="Shape 4"/>
          <p:cNvSpPr/>
          <p:nvPr/>
        </p:nvSpPr>
        <p:spPr>
          <a:xfrm>
            <a:off x="815975" y="3876675"/>
            <a:ext cx="3414157" cy="1256030"/>
          </a:xfrm>
          <a:prstGeom prst="roundRect">
            <a:avLst>
              <a:gd name="adj" fmla="val 5814"/>
            </a:avLst>
          </a:prstGeom>
          <a:solidFill>
            <a:srgbClr val="FFFFFF"/>
          </a:solidFill>
          <a:ln w="6350">
            <a:solidFill>
              <a:srgbClr val="E6DCD8"/>
            </a:solidFill>
            <a:prstDash val="solid"/>
          </a:ln>
        </p:spPr>
      </p:sp>
      <p:sp>
        <p:nvSpPr>
          <p:cNvPr id="8" name="Text 5"/>
          <p:cNvSpPr/>
          <p:nvPr/>
        </p:nvSpPr>
        <p:spPr>
          <a:xfrm>
            <a:off x="995680" y="4056382"/>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1E2C"/>
                </a:solidFill>
                <a:latin typeface="Montserrat" pitchFamily="34" charset="0"/>
                <a:ea typeface="Montserrat" pitchFamily="34" charset="-122"/>
                <a:cs typeface="Montserrat" pitchFamily="34" charset="-120"/>
              </a:rPr>
              <a:t>Acumulación</a:t>
            </a:r>
            <a:endParaRPr lang="en-US" sz="1500" dirty="0"/>
          </a:p>
        </p:txBody>
      </p:sp>
      <p:sp>
        <p:nvSpPr>
          <p:cNvPr id="9" name="Text 6"/>
          <p:cNvSpPr/>
          <p:nvPr/>
        </p:nvSpPr>
        <p:spPr>
          <a:xfrm>
            <a:off x="995680" y="4335782"/>
            <a:ext cx="3146389"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23 731 centroides sobre una grilla del plano, con suavizado gaussiano; zona caliente = </a:t>
            </a:r>
            <a:r>
              <a:rPr lang="en-US" sz="1200" b="1" dirty="0">
                <a:solidFill>
                  <a:srgbClr val="4A3B3E"/>
                </a:solidFill>
                <a:latin typeface="Public Sans" pitchFamily="34" charset="0"/>
                <a:ea typeface="Public Sans" pitchFamily="34" charset="-122"/>
                <a:cs typeface="Public Sans" pitchFamily="34" charset="-120"/>
              </a:rPr>
              <a:t>corredor del fondo</a:t>
            </a:r>
            <a:r>
              <a:rPr lang="en-US" sz="1200" dirty="0">
                <a:solidFill>
                  <a:srgbClr val="4A3B3E"/>
                </a:solidFill>
                <a:latin typeface="Public Sans" pitchFamily="34" charset="0"/>
                <a:ea typeface="Public Sans" pitchFamily="34" charset="-122"/>
                <a:cs typeface="Public Sans" pitchFamily="34" charset="-120"/>
              </a:rPr>
              <a:t> (paso hacia el parqueadero)</a:t>
            </a:r>
            <a:endParaRPr lang="en-US" sz="1200" dirty="0"/>
          </a:p>
        </p:txBody>
      </p:sp>
      <p:sp>
        <p:nvSpPr>
          <p:cNvPr id="10" name="Shape 7"/>
          <p:cNvSpPr/>
          <p:nvPr/>
        </p:nvSpPr>
        <p:spPr>
          <a:xfrm>
            <a:off x="4388882" y="3876675"/>
            <a:ext cx="3414236" cy="1256030"/>
          </a:xfrm>
          <a:prstGeom prst="roundRect">
            <a:avLst>
              <a:gd name="adj" fmla="val 5814"/>
            </a:avLst>
          </a:prstGeom>
          <a:solidFill>
            <a:srgbClr val="FFFFFF"/>
          </a:solidFill>
          <a:ln w="6350">
            <a:solidFill>
              <a:srgbClr val="E6DCD8"/>
            </a:solidFill>
            <a:prstDash val="solid"/>
          </a:ln>
        </p:spPr>
      </p:sp>
      <p:sp>
        <p:nvSpPr>
          <p:cNvPr id="11" name="Text 8"/>
          <p:cNvSpPr/>
          <p:nvPr/>
        </p:nvSpPr>
        <p:spPr>
          <a:xfrm>
            <a:off x="4568587" y="4056382"/>
            <a:ext cx="314647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1E2C"/>
                </a:solidFill>
                <a:latin typeface="Montserrat" pitchFamily="34" charset="0"/>
                <a:ea typeface="Montserrat" pitchFamily="34" charset="-122"/>
                <a:cs typeface="Montserrat" pitchFamily="34" charset="-120"/>
              </a:rPr>
              <a:t>Evidencia para el directorio</a:t>
            </a:r>
            <a:endParaRPr lang="en-US" sz="1500" dirty="0"/>
          </a:p>
        </p:txBody>
      </p:sp>
      <p:sp>
        <p:nvSpPr>
          <p:cNvPr id="12" name="Text 9"/>
          <p:cNvSpPr/>
          <p:nvPr/>
        </p:nvSpPr>
        <p:spPr>
          <a:xfrm>
            <a:off x="4568587" y="4335782"/>
            <a:ext cx="3146471"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El primer plano está </a:t>
            </a:r>
            <a:r>
              <a:rPr lang="en-US" sz="1200" b="1" dirty="0">
                <a:solidFill>
                  <a:srgbClr val="4A3B3E"/>
                </a:solidFill>
                <a:latin typeface="Public Sans" pitchFamily="34" charset="0"/>
                <a:ea typeface="Public Sans" pitchFamily="34" charset="-122"/>
                <a:cs typeface="Public Sans" pitchFamily="34" charset="-120"/>
              </a:rPr>
              <a:t>subutilizado</a:t>
            </a:r>
            <a:r>
              <a:rPr lang="en-US" sz="1200" dirty="0">
                <a:solidFill>
                  <a:srgbClr val="4A3B3E"/>
                </a:solidFill>
                <a:latin typeface="Public Sans" pitchFamily="34" charset="0"/>
                <a:ea typeface="Public Sans" pitchFamily="34" charset="-122"/>
                <a:cs typeface="Public Sans" pitchFamily="34" charset="-120"/>
              </a:rPr>
              <a:t>; el corredor de ingreso concentra casi todo el tránsito</a:t>
            </a:r>
            <a:endParaRPr lang="en-US" sz="1200" dirty="0"/>
          </a:p>
        </p:txBody>
      </p:sp>
      <p:sp>
        <p:nvSpPr>
          <p:cNvPr id="13" name="Shape 10"/>
          <p:cNvSpPr/>
          <p:nvPr/>
        </p:nvSpPr>
        <p:spPr>
          <a:xfrm>
            <a:off x="7961868" y="3876675"/>
            <a:ext cx="3414157" cy="1256030"/>
          </a:xfrm>
          <a:prstGeom prst="roundRect">
            <a:avLst>
              <a:gd name="adj" fmla="val 5814"/>
            </a:avLst>
          </a:prstGeom>
          <a:solidFill>
            <a:srgbClr val="FFFFFF"/>
          </a:solidFill>
          <a:ln w="6350">
            <a:solidFill>
              <a:srgbClr val="E6DCD8"/>
            </a:solidFill>
            <a:prstDash val="solid"/>
          </a:ln>
        </p:spPr>
      </p:sp>
      <p:sp>
        <p:nvSpPr>
          <p:cNvPr id="14" name="Text 11"/>
          <p:cNvSpPr/>
          <p:nvPr/>
        </p:nvSpPr>
        <p:spPr>
          <a:xfrm>
            <a:off x="8141574" y="4056382"/>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1E2C"/>
                </a:solidFill>
                <a:latin typeface="Montserrat" pitchFamily="34" charset="0"/>
                <a:ea typeface="Montserrat" pitchFamily="34" charset="-122"/>
                <a:cs typeface="Montserrat" pitchFamily="34" charset="-120"/>
              </a:rPr>
              <a:t>Lectura crítica</a:t>
            </a:r>
            <a:endParaRPr lang="en-US" sz="1500" dirty="0"/>
          </a:p>
        </p:txBody>
      </p:sp>
      <p:sp>
        <p:nvSpPr>
          <p:cNvPr id="15" name="Text 12"/>
          <p:cNvSpPr/>
          <p:nvPr/>
        </p:nvSpPr>
        <p:spPr>
          <a:xfrm>
            <a:off x="8141574" y="4335782"/>
            <a:ext cx="3146389"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3B3E"/>
                </a:solidFill>
                <a:latin typeface="Public Sans" pitchFamily="34" charset="0"/>
                <a:ea typeface="Public Sans" pitchFamily="34" charset="-122"/>
                <a:cs typeface="Public Sans" pitchFamily="34" charset="-120"/>
              </a:rPr>
              <a:t>Los puntos calientes fuera del flujo (vitrinas, carteles) son detecciones espurias, no tránsito real</a:t>
            </a:r>
            <a:endParaRPr lang="en-US" sz="1200" dirty="0"/>
          </a:p>
        </p:txBody>
      </p:sp>
      <p:sp>
        <p:nvSpPr>
          <p:cNvPr id="16" name="Text 1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6D"/>
                </a:solidFill>
                <a:latin typeface="Public Sans" pitchFamily="34" charset="0"/>
                <a:ea typeface="Public Sans" pitchFamily="34" charset="-122"/>
                <a:cs typeface="Public Sans" pitchFamily="34" charset="-120"/>
              </a:rPr>
              <a:t>Paso 3 · acumulado sobre el video completo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F1"/>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7A1E2C"/>
          </a:solidFill>
          <a:ln/>
        </p:spPr>
      </p:sp>
      <p:sp>
        <p:nvSpPr>
          <p:cNvPr id="3" name="Text 1"/>
          <p:cNvSpPr/>
          <p:nvPr/>
        </p:nvSpPr>
        <p:spPr>
          <a:xfrm>
            <a:off x="812800" y="812800"/>
            <a:ext cx="10883392" cy="251539"/>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A1E2C"/>
                </a:solidFill>
                <a:latin typeface="Montserrat" pitchFamily="34" charset="0"/>
                <a:ea typeface="Montserrat" pitchFamily="34" charset="-122"/>
                <a:cs typeface="Montserrat" pitchFamily="34" charset="-120"/>
              </a:rPr>
              <a:t>PARTE 3 · CONTEO DE CRUCES (PASO 4)</a:t>
            </a:r>
            <a:endParaRPr lang="en-US" sz="1300" dirty="0"/>
          </a:p>
        </p:txBody>
      </p:sp>
      <p:sp>
        <p:nvSpPr>
          <p:cNvPr id="4" name="Text 2"/>
          <p:cNvSpPr/>
          <p:nvPr>
            <p:ph type="title"/>
          </p:nvPr>
        </p:nvSpPr>
        <p:spPr>
          <a:xfrm>
            <a:off x="812800" y="1115141"/>
            <a:ext cx="10883392" cy="790654"/>
          </a:xfrm>
          <a:prstGeom prst="rect">
            <a:avLst/>
          </a:prstGeom>
          <a:noFill/>
          <a:ln/>
        </p:spPr>
        <p:txBody>
          <a:bodyPr wrap="square" lIns="0" tIns="0" rIns="0" bIns="0" rtlCol="0" anchor="t">
            <a:normAutofit/>
          </a:bodyPr>
          <a:lstStyle/>
          <a:p>
            <a:pPr algn="l" indent="0" marL="0">
              <a:lnSpc>
                <a:spcPts val="3032"/>
              </a:lnSpc>
              <a:buNone/>
            </a:pPr>
            <a:r>
              <a:rPr lang="en-US" sz="2756" b="1" i="0" dirty="0">
                <a:solidFill>
                  <a:srgbClr val="2A1A1D"/>
                </a:solidFill>
                <a:latin typeface="Montserrat" pitchFamily="34" charset="0"/>
                <a:ea typeface="Montserrat" pitchFamily="34" charset="-122"/>
                <a:cs typeface="Montserrat" pitchFamily="34" charset="-120"/>
              </a:rPr>
              <a:t>Cuántas personas distintas ingresaron y salieron, sin duplicar</a:t>
            </a:r>
            <a:endParaRPr lang="en-US" sz="2756"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119154"/>
          <a:ext cx="6339840" cy="1784350"/>
        </p:xfrm>
        <a:graphic>
          <a:graphicData uri="http://schemas.openxmlformats.org/drawingml/2006/table">
            <a:tbl>
              <a:tblPr/>
              <a:tblGrid>
                <a:gridCol w="2155546"/>
                <a:gridCol w="1267968"/>
                <a:gridCol w="1648358"/>
                <a:gridCol w="1267968"/>
              </a:tblGrid>
              <a:tr h="356870">
                <a:tc>
                  <a:txBody>
                    <a:bodyPr/>
                    <a:lstStyle/>
                    <a:p>
                      <a:pPr indent="0" marL="0">
                        <a:lnSpc>
                          <a:spcPts val="1820"/>
                        </a:lnSpc>
                        <a:buNone/>
                      </a:pPr>
                      <a:r>
                        <a:rPr lang="en-US" sz="1300" b="1" dirty="0">
                          <a:solidFill>
                            <a:srgbClr val="F7F2EE"/>
                          </a:solidFill>
                          <a:latin typeface="Public Sans" pitchFamily="34" charset="0"/>
                          <a:ea typeface="Public Sans" pitchFamily="34" charset="-122"/>
                          <a:cs typeface="Public Sans" pitchFamily="34" charset="-120"/>
                        </a:rPr>
                        <a:t>Dirección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641C27"/>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641C27"/>
                      </a:solidFill>
                      <a:prstDash val="solid"/>
                      <a:round/>
                      <a:headEnd type="none" w="med" len="med"/>
                      <a:tailEnd type="none" w="med" len="med"/>
                    </a:lnB>
                    <a:solidFill>
                      <a:srgbClr val="7A1E2C"/>
                    </a:solidFill>
                  </a:tcPr>
                </a:tc>
                <a:tc>
                  <a:txBody>
                    <a:bodyPr/>
                    <a:lstStyle/>
                    <a:p>
                      <a:pPr algn="ctr" indent="0" marL="0">
                        <a:lnSpc>
                          <a:spcPts val="1820"/>
                        </a:lnSpc>
                        <a:buNone/>
                      </a:pPr>
                      <a:r>
                        <a:rPr lang="en-US" sz="1300" b="1" dirty="0">
                          <a:solidFill>
                            <a:srgbClr val="F7F2EE"/>
                          </a:solidFill>
                          <a:latin typeface="Public Sans" pitchFamily="34" charset="0"/>
                          <a:ea typeface="Public Sans" pitchFamily="34" charset="-122"/>
                          <a:cs typeface="Public Sans" pitchFamily="34" charset="-120"/>
                        </a:rPr>
                        <a:t>Personas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641C27"/>
                      </a:solidFill>
                      <a:prstDash val="solid"/>
                      <a:round/>
                      <a:headEnd type="none" w="med" len="med"/>
                      <a:tailEnd type="none" w="med" len="med"/>
                    </a:lnL>
                    <a:lnR w="12700" cap="flat" cmpd="sng" algn="ctr">
                      <a:solidFill>
                        <a:srgbClr val="641C27"/>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641C27"/>
                      </a:solidFill>
                      <a:prstDash val="solid"/>
                      <a:round/>
                      <a:headEnd type="none" w="med" len="med"/>
                      <a:tailEnd type="none" w="med" len="med"/>
                    </a:lnB>
                    <a:solidFill>
                      <a:srgbClr val="7A1E2C"/>
                    </a:solidFill>
                  </a:tcPr>
                </a:tc>
                <a:tc>
                  <a:txBody>
                    <a:bodyPr/>
                    <a:lstStyle/>
                    <a:p>
                      <a:pPr algn="ctr" indent="0" marL="0">
                        <a:lnSpc>
                          <a:spcPts val="1820"/>
                        </a:lnSpc>
                        <a:buNone/>
                      </a:pPr>
                      <a:r>
                        <a:rPr lang="en-US" sz="1300" b="1" dirty="0">
                          <a:solidFill>
                            <a:srgbClr val="F7F2EE"/>
                          </a:solidFill>
                          <a:latin typeface="Public Sans" pitchFamily="34" charset="0"/>
                          <a:ea typeface="Public Sans" pitchFamily="34" charset="-122"/>
                          <a:cs typeface="Public Sans" pitchFamily="34" charset="-120"/>
                        </a:rPr>
                        <a:t>Criterio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641C27"/>
                      </a:solidFill>
                      <a:prstDash val="solid"/>
                      <a:round/>
                      <a:headEnd type="none" w="med" len="med"/>
                      <a:tailEnd type="none" w="med" len="med"/>
                    </a:lnL>
                    <a:lnR w="12700" cap="flat" cmpd="sng" algn="ctr">
                      <a:solidFill>
                        <a:srgbClr val="641C27"/>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641C27"/>
                      </a:solidFill>
                      <a:prstDash val="solid"/>
                      <a:round/>
                      <a:headEnd type="none" w="med" len="med"/>
                      <a:tailEnd type="none" w="med" len="med"/>
                    </a:lnB>
                    <a:solidFill>
                      <a:srgbClr val="7A1E2C"/>
                    </a:solidFill>
                  </a:tcPr>
                </a:tc>
                <a:tc>
                  <a:txBody>
                    <a:bodyPr/>
                    <a:lstStyle/>
                    <a:p>
                      <a:pPr algn="ctr" indent="0" marL="0">
                        <a:lnSpc>
                          <a:spcPts val="1820"/>
                        </a:lnSpc>
                        <a:buNone/>
                      </a:pPr>
                      <a:r>
                        <a:rPr lang="en-US" sz="1300" b="1" dirty="0">
                          <a:solidFill>
                            <a:srgbClr val="F7F2EE"/>
                          </a:solidFill>
                          <a:latin typeface="Public Sans" pitchFamily="34" charset="0"/>
                          <a:ea typeface="Public Sans" pitchFamily="34" charset="-122"/>
                          <a:cs typeface="Public Sans" pitchFamily="34" charset="-120"/>
                        </a:rPr>
                        <a:t>Nota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641C27"/>
                      </a:solidFill>
                      <a:prstDash val="solid"/>
                      <a:round/>
                      <a:headEnd type="none" w="med" len="med"/>
                      <a:tailEnd type="none" w="med" len="med"/>
                    </a:lnL>
                    <a:lnR w="12700" cap="flat" cmpd="sng" algn="ctr">
                      <a:solidFill>
                        <a:srgbClr val="641C27"/>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641C27"/>
                      </a:solidFill>
                      <a:prstDash val="solid"/>
                      <a:round/>
                      <a:headEnd type="none" w="med" len="med"/>
                      <a:tailEnd type="none" w="med" len="med"/>
                    </a:lnB>
                    <a:solidFill>
                      <a:srgbClr val="7A1E2C"/>
                    </a:solidFill>
                  </a:tcPr>
                </a:tc>
              </a:tr>
              <a:tr h="356870">
                <a:tc>
                  <a:txBody>
                    <a:bodyPr/>
                    <a:lstStyle/>
                    <a:p>
                      <a:pP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Ingresaron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641C27"/>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22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641C27"/>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cruce hacia la cámara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641C27"/>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cada ID una sola vez</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641C27"/>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r>
              <a:tr h="356870">
                <a:tc>
                  <a:txBody>
                    <a:bodyPr/>
                    <a:lstStyle/>
                    <a:p>
                      <a:pP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Salieron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21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cruce hacia el fondo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cada ID una sola vez</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r>
              <a:tr h="356870">
                <a:tc>
                  <a:txBody>
                    <a:bodyPr/>
                    <a:lstStyle/>
                    <a:p>
                      <a:pP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Flujo neto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BFB9B5"/>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BFB9B5"/>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ingresos − salidas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BFB9B5"/>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balance del periodo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C5C3C0"/>
                      </a:solidFill>
                      <a:prstDash val="solid"/>
                      <a:round/>
                      <a:headEnd type="none" w="med" len="med"/>
                      <a:tailEnd type="none" w="med" len="med"/>
                    </a:lnR>
                    <a:lnT w="12700" cap="flat" cmpd="sng" algn="ctr">
                      <a:solidFill>
                        <a:srgbClr val="BFB9B5"/>
                      </a:solidFill>
                      <a:prstDash val="solid"/>
                      <a:round/>
                      <a:headEnd type="none" w="med" len="med"/>
                      <a:tailEnd type="none" w="med" len="med"/>
                    </a:lnT>
                    <a:lnB w="12700" cap="flat" cmpd="sng" algn="ctr">
                      <a:solidFill>
                        <a:srgbClr val="C5C3C0"/>
                      </a:solidFill>
                      <a:prstDash val="solid"/>
                      <a:round/>
                      <a:headEnd type="none" w="med" len="med"/>
                      <a:tailEnd type="none" w="med" len="med"/>
                    </a:lnB>
                  </a:tcPr>
                </a:tc>
              </a:tr>
              <a:tr h="356870">
                <a:tc>
                  <a:txBody>
                    <a:bodyPr/>
                    <a:lstStyle/>
                    <a:p>
                      <a:pP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IDs totales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3C0"/>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292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vistos en el video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c>
                  <a:txBody>
                    <a:bodyPr/>
                    <a:lstStyle/>
                    <a:p>
                      <a:pPr algn="ctr" indent="0" marL="0">
                        <a:lnSpc>
                          <a:spcPts val="1820"/>
                        </a:lnSpc>
                        <a:buNone/>
                      </a:pPr>
                      <a:r>
                        <a:rPr lang="en-US" sz="1300" dirty="0">
                          <a:solidFill>
                            <a:srgbClr val="2A1A1D"/>
                          </a:solidFill>
                          <a:latin typeface="Public Sans" pitchFamily="34" charset="0"/>
                          <a:ea typeface="Public Sans" pitchFamily="34" charset="-122"/>
                          <a:cs typeface="Public Sans" pitchFamily="34" charset="-120"/>
                        </a:rPr>
                        <a:t>incluye duplicados por oclusión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FB9B5"/>
                      </a:solidFill>
                      <a:prstDash val="solid"/>
                      <a:round/>
                      <a:headEnd type="none" w="med" len="med"/>
                      <a:tailEnd type="none" w="med" len="med"/>
                    </a:lnL>
                    <a:lnR w="12700" cap="flat" cmpd="sng" algn="ctr">
                      <a:solidFill>
                        <a:srgbClr val="BFB9B5"/>
                      </a:solidFill>
                      <a:prstDash val="solid"/>
                      <a:round/>
                      <a:headEnd type="none" w="med" len="med"/>
                      <a:tailEnd type="none" w="med" len="med"/>
                    </a:lnR>
                    <a:lnT w="12700" cap="flat" cmpd="sng" algn="ctr">
                      <a:solidFill>
                        <a:srgbClr val="C5C3C0"/>
                      </a:solidFill>
                      <a:prstDash val="solid"/>
                      <a:round/>
                      <a:headEnd type="none" w="med" len="med"/>
                      <a:tailEnd type="none" w="med" len="med"/>
                    </a:lnT>
                    <a:lnB w="12700" cap="flat" cmpd="sng" algn="ctr">
                      <a:solidFill>
                        <a:srgbClr val="BFB9B5"/>
                      </a:solidFill>
                      <a:prstDash val="solid"/>
                      <a:round/>
                      <a:headEnd type="none" w="med" len="med"/>
                      <a:tailEnd type="none" w="med" len="med"/>
                    </a:lnB>
                    <a:solidFill>
                      <a:srgbClr val="EFE7E3"/>
                    </a:solidFill>
                  </a:tcPr>
                </a:tc>
              </a:tr>
            </a:tbl>
          </a:graphicData>
        </a:graphic>
      </p:graphicFrame>
      <p:sp>
        <p:nvSpPr>
          <p:cNvPr id="6" name="Text 3"/>
          <p:cNvSpPr/>
          <p:nvPr/>
        </p:nvSpPr>
        <p:spPr>
          <a:xfrm>
            <a:off x="910844" y="4081304"/>
            <a:ext cx="6434836" cy="982980"/>
          </a:xfrm>
          <a:prstGeom prst="rect">
            <a:avLst/>
          </a:prstGeom>
          <a:noFill/>
          <a:ln/>
        </p:spPr>
        <p:txBody>
          <a:bodyPr wrap="square" lIns="0" tIns="0" rIns="0" bIns="0" rtlCol="0" anchor="t">
            <a:normAutofit/>
          </a:bodyPr>
          <a:lstStyle/>
          <a:p>
            <a:pPr algn="l" marL="155956" indent="-155956">
              <a:lnSpc>
                <a:spcPts val="1885"/>
              </a:lnSpc>
              <a:buSzPct val="100000"/>
              <a:buChar char="•"/>
            </a:pPr>
            <a:r>
              <a:rPr lang="en-US" sz="1300" dirty="0">
                <a:solidFill>
                  <a:srgbClr val="2A1A1D"/>
                </a:solidFill>
                <a:latin typeface="Public Sans" pitchFamily="34" charset="0"/>
                <a:ea typeface="Public Sans" pitchFamily="34" charset="-122"/>
                <a:cs typeface="Public Sans" pitchFamily="34" charset="-120"/>
              </a:rPr>
              <a:t>Línea de conteo sobre el corredor, tramo </a:t>
            </a:r>
            <a:r>
              <a:rPr lang="en-US" sz="1300" b="1" dirty="0">
                <a:solidFill>
                  <a:srgbClr val="2A1A1D"/>
                </a:solidFill>
                <a:latin typeface="Public Sans" pitchFamily="34" charset="0"/>
                <a:ea typeface="Public Sans" pitchFamily="34" charset="-122"/>
                <a:cs typeface="Public Sans" pitchFamily="34" charset="-120"/>
              </a:rPr>
              <a:t>x ∈ [0.30, 0.70]</a:t>
            </a:r>
            <a:r>
              <a:rPr lang="en-US" sz="1300" dirty="0">
                <a:solidFill>
                  <a:srgbClr val="2A1A1D"/>
                </a:solidFill>
                <a:latin typeface="Public Sans" pitchFamily="34" charset="0"/>
                <a:ea typeface="Public Sans" pitchFamily="34" charset="-122"/>
                <a:cs typeface="Public Sans" pitchFamily="34" charset="-120"/>
              </a:rPr>
              <a:t>; hacia la cámara = </a:t>
            </a:r>
            <a:r>
              <a:rPr lang="en-US" sz="1300" b="1" dirty="0">
                <a:solidFill>
                  <a:srgbClr val="2A1A1D"/>
                </a:solidFill>
                <a:latin typeface="Public Sans" pitchFamily="34" charset="0"/>
                <a:ea typeface="Public Sans" pitchFamily="34" charset="-122"/>
                <a:cs typeface="Public Sans" pitchFamily="34" charset="-120"/>
              </a:rPr>
              <a:t>ingreso al interior</a:t>
            </a:r>
            <a:endParaRPr lang="en-US" sz="1300" dirty="0"/>
          </a:p>
          <a:p>
            <a:pPr algn="l" marL="155956" indent="-155956">
              <a:lnSpc>
                <a:spcPts val="1885"/>
              </a:lnSpc>
              <a:buSzPct val="100000"/>
              <a:buChar char="•"/>
            </a:pPr>
            <a:r>
              <a:rPr lang="en-US" sz="1300" dirty="0">
                <a:solidFill>
                  <a:srgbClr val="2A1A1D"/>
                </a:solidFill>
                <a:latin typeface="Public Sans" pitchFamily="34" charset="0"/>
                <a:ea typeface="Public Sans" pitchFamily="34" charset="-122"/>
                <a:cs typeface="Public Sans" pitchFamily="34" charset="-120"/>
              </a:rPr>
              <a:t>El resultado depende por completo de la persistencia del ID del Paso 2</a:t>
            </a:r>
            <a:endParaRPr lang="en-US" sz="1300" dirty="0"/>
          </a:p>
          <a:p>
            <a:pPr algn="l" marL="155956" indent="-155956">
              <a:lnSpc>
                <a:spcPts val="1885"/>
              </a:lnSpc>
              <a:buSzPct val="100000"/>
              <a:buChar char="•"/>
            </a:pPr>
            <a:r>
              <a:rPr lang="en-US" sz="1300" dirty="0">
                <a:solidFill>
                  <a:srgbClr val="2A1A1D"/>
                </a:solidFill>
                <a:latin typeface="Public Sans" pitchFamily="34" charset="0"/>
                <a:ea typeface="Public Sans" pitchFamily="34" charset="-122"/>
                <a:cs typeface="Public Sans" pitchFamily="34" charset="-120"/>
              </a:rPr>
              <a:t>Sin doble conteo: </a:t>
            </a:r>
            <a:r>
              <a:rPr lang="en-US" sz="1300" b="1" dirty="0">
                <a:solidFill>
                  <a:srgbClr val="2A1A1D"/>
                </a:solidFill>
                <a:latin typeface="Public Sans" pitchFamily="34" charset="0"/>
                <a:ea typeface="Public Sans" pitchFamily="34" charset="-122"/>
                <a:cs typeface="Public Sans" pitchFamily="34" charset="-120"/>
              </a:rPr>
              <a:t>IDs en un conjunto</a:t>
            </a:r>
            <a:r>
              <a:rPr lang="en-US" sz="1300" dirty="0">
                <a:solidFill>
                  <a:srgbClr val="2A1A1D"/>
                </a:solidFill>
                <a:latin typeface="Public Sans" pitchFamily="34" charset="0"/>
                <a:ea typeface="Public Sans" pitchFamily="34" charset="-122"/>
                <a:cs typeface="Public Sans" pitchFamily="34" charset="-120"/>
              </a:rPr>
              <a:t>; cada identidad cuenta una sola vez por dirección</a:t>
            </a:r>
            <a:endParaRPr lang="en-US" sz="1300" dirty="0"/>
          </a:p>
          <a:p>
            <a:pPr algn="l" marL="155956" indent="-155956">
              <a:lnSpc>
                <a:spcPts val="1885"/>
              </a:lnSpc>
              <a:buSzPct val="100000"/>
              <a:buChar char="•"/>
            </a:pPr>
            <a:r>
              <a:rPr lang="en-US" sz="1300" dirty="0">
                <a:solidFill>
                  <a:srgbClr val="2A1A1D"/>
                </a:solidFill>
                <a:latin typeface="Public Sans" pitchFamily="34" charset="0"/>
                <a:ea typeface="Public Sans" pitchFamily="34" charset="-122"/>
                <a:cs typeface="Public Sans" pitchFamily="34" charset="-120"/>
              </a:rPr>
              <a:t>Riesgo si una persona cambia de ID: </a:t>
            </a:r>
            <a:r>
              <a:rPr lang="en-US" sz="1300" b="1" dirty="0">
                <a:solidFill>
                  <a:srgbClr val="2A1A1D"/>
                </a:solidFill>
                <a:latin typeface="Public Sans" pitchFamily="34" charset="0"/>
                <a:ea typeface="Public Sans" pitchFamily="34" charset="-122"/>
                <a:cs typeface="Public Sans" pitchFamily="34" charset="-120"/>
              </a:rPr>
              <a:t>puede contarse dos veces</a:t>
            </a:r>
            <a:endParaRPr lang="en-US" sz="1300" dirty="0"/>
          </a:p>
        </p:txBody>
      </p:sp>
      <p:sp>
        <p:nvSpPr>
          <p:cNvPr id="7" name="Shape 4"/>
          <p:cNvSpPr/>
          <p:nvPr/>
        </p:nvSpPr>
        <p:spPr>
          <a:xfrm>
            <a:off x="7569200" y="2108994"/>
            <a:ext cx="3810000" cy="3810000"/>
          </a:xfrm>
          <a:prstGeom prst="roundRect">
            <a:avLst>
              <a:gd name="adj" fmla="val 2000"/>
            </a:avLst>
          </a:prstGeom>
          <a:solidFill>
            <a:srgbClr val="FFFFFF"/>
          </a:solidFill>
          <a:ln/>
        </p:spPr>
      </p:sp>
      <p:pic>
        <p:nvPicPr>
          <p:cNvPr id="8" name="Image 0" descr="Línea virtual de conteo sobre el corredor y un cuadro del video final con el contador">    </p:cNvPr>
          <p:cNvPicPr>
            <a:picLocks noChangeAspect="1"/>
          </p:cNvPicPr>
          <p:nvPr/>
        </p:nvPicPr>
        <p:blipFill>
          <a:blip r:embed="rId1"/>
          <a:stretch>
            <a:fillRect/>
          </a:stretch>
        </p:blipFill>
        <p:spPr>
          <a:xfrm>
            <a:off x="7630214" y="2108994"/>
            <a:ext cx="3687972" cy="3810000"/>
          </a:xfrm>
          <a:custGeom>
            <a:avLst/>
            <a:gdLst/>
            <a:ahLst/>
            <a:cxnLst/>
            <a:rect l="l" t="t" r="r" b="b"/>
            <a:pathLst>
              <a:path w="3687972" h="3810000">
                <a:moveTo>
                  <a:pt x="0" y="1529"/>
                </a:moveTo>
                <a:arcTo wR="76200" hR="76200" stAng="15510280" swAng="689720"/>
                <a:lnTo>
                  <a:pt x="3672786" y="0"/>
                </a:lnTo>
                <a:arcTo wR="76200" hR="76200" stAng="16200000" swAng="689720"/>
                <a:lnTo>
                  <a:pt x="3687972" y="3808471"/>
                </a:lnTo>
                <a:arcTo wR="76200" hR="76200" stAng="4710280" swAng="689720"/>
                <a:lnTo>
                  <a:pt x="15186" y="3810000"/>
                </a:lnTo>
                <a:arcTo wR="76200" hR="76200" stAng="5400000" swAng="689720"/>
                <a:close/>
              </a:path>
            </a:pathLst>
          </a:custGeom>
        </p:spPr>
      </p:pic>
      <p:sp>
        <p:nvSpPr>
          <p:cNvPr id="9" name="Text 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6A6D"/>
                </a:solidFill>
                <a:latin typeface="Public Sans" pitchFamily="34" charset="0"/>
                <a:ea typeface="Public Sans" pitchFamily="34" charset="-122"/>
                <a:cs typeface="Public Sans" pitchFamily="34" charset="-120"/>
              </a:rPr>
              <a:t>Línea virtual + ID persistente · resultados sobre el video completo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A1E2C"/>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C9A24D"/>
          </a:solidFill>
          <a:ln/>
        </p:spPr>
      </p:sp>
      <p:sp>
        <p:nvSpPr>
          <p:cNvPr id="3" name="Text 1"/>
          <p:cNvSpPr/>
          <p:nvPr/>
        </p:nvSpPr>
        <p:spPr>
          <a:xfrm>
            <a:off x="812800" y="812800"/>
            <a:ext cx="10883392" cy="247729"/>
          </a:xfrm>
          <a:prstGeom prst="rect">
            <a:avLst/>
          </a:prstGeom>
          <a:noFill/>
          <a:ln/>
        </p:spPr>
        <p:txBody>
          <a:bodyPr wrap="square" lIns="0" tIns="0" rIns="0" bIns="0" rtlCol="0" anchor="t">
            <a:normAutofit/>
          </a:bodyPr>
          <a:lstStyle/>
          <a:p>
            <a:pPr algn="l" indent="0" marL="0">
              <a:lnSpc>
                <a:spcPts val="1774"/>
              </a:lnSpc>
              <a:buNone/>
            </a:pPr>
            <a:r>
              <a:rPr lang="en-US" sz="1268" b="1" spc="150" kern="0" dirty="0">
                <a:solidFill>
                  <a:srgbClr val="E8CF94"/>
                </a:solidFill>
                <a:latin typeface="Montserrat" pitchFamily="34" charset="0"/>
                <a:ea typeface="Montserrat" pitchFamily="34" charset="-122"/>
                <a:cs typeface="Montserrat" pitchFamily="34" charset="-120"/>
              </a:rPr>
              <a:t>RESULTADOS Y RECOMENDACIÓN AL DIRECTORIO</a:t>
            </a:r>
            <a:endParaRPr lang="en-US" sz="1268" dirty="0"/>
          </a:p>
        </p:txBody>
      </p:sp>
      <p:sp>
        <p:nvSpPr>
          <p:cNvPr id="4" name="Text 2"/>
          <p:cNvSpPr/>
          <p:nvPr>
            <p:ph type="title"/>
          </p:nvPr>
        </p:nvSpPr>
        <p:spPr>
          <a:xfrm>
            <a:off x="812800" y="1111331"/>
            <a:ext cx="10883392" cy="777796"/>
          </a:xfrm>
          <a:prstGeom prst="rect">
            <a:avLst/>
          </a:prstGeom>
          <a:noFill/>
          <a:ln/>
        </p:spPr>
        <p:txBody>
          <a:bodyPr wrap="square" lIns="0" tIns="0" rIns="0" bIns="0" rtlCol="0" anchor="t">
            <a:normAutofit/>
          </a:bodyPr>
          <a:lstStyle/>
          <a:p>
            <a:pPr algn="l" indent="0" marL="0">
              <a:lnSpc>
                <a:spcPts val="2955"/>
              </a:lnSpc>
              <a:buNone/>
            </a:pPr>
            <a:r>
              <a:rPr lang="en-US" sz="2686" b="1" i="0" dirty="0">
                <a:solidFill>
                  <a:srgbClr val="F7F2EE"/>
                </a:solidFill>
                <a:latin typeface="Montserrat" pitchFamily="34" charset="0"/>
                <a:ea typeface="Montserrat" pitchFamily="34" charset="-122"/>
                <a:cs typeface="Montserrat" pitchFamily="34" charset="-120"/>
              </a:rPr>
              <a:t>Pilotar primero la analítica de ingreso (conteo + mapa de calor)</a:t>
            </a:r>
            <a:endParaRPr lang="en-US" sz="2686" dirty="0"/>
          </a:p>
        </p:txBody>
      </p:sp>
      <p:sp>
        <p:nvSpPr>
          <p:cNvPr id="5" name="Shape 3"/>
          <p:cNvSpPr/>
          <p:nvPr/>
        </p:nvSpPr>
        <p:spPr>
          <a:xfrm>
            <a:off x="812800" y="2092325"/>
            <a:ext cx="10566400" cy="2137410"/>
          </a:xfrm>
          <a:prstGeom prst="roundRect">
            <a:avLst>
              <a:gd name="adj" fmla="val 3565"/>
            </a:avLst>
          </a:prstGeom>
          <a:solidFill>
            <a:srgbClr val="FBF8F5"/>
          </a:solidFill>
          <a:ln/>
        </p:spPr>
      </p:sp>
      <p:pic>
        <p:nvPicPr>
          <p:cNvPr id="6" name="Image 0" descr="Tres cuadros del video final con todos los filtros y el contador de ingresos y salidas">    </p:cNvPr>
          <p:cNvPicPr>
            <a:picLocks noChangeAspect="1"/>
          </p:cNvPicPr>
          <p:nvPr/>
        </p:nvPicPr>
        <p:blipFill>
          <a:blip r:embed="rId1"/>
          <a:stretch>
            <a:fillRect/>
          </a:stretch>
        </p:blipFill>
        <p:spPr>
          <a:xfrm>
            <a:off x="1000042" y="2092325"/>
            <a:ext cx="10191916" cy="2137410"/>
          </a:xfrm>
          <a:prstGeom prst="rect">
            <a:avLst/>
          </a:prstGeom>
        </p:spPr>
      </p:pic>
      <p:sp>
        <p:nvSpPr>
          <p:cNvPr id="7" name="Text 4"/>
          <p:cNvSpPr/>
          <p:nvPr/>
        </p:nvSpPr>
        <p:spPr>
          <a:xfrm>
            <a:off x="812800" y="4458336"/>
            <a:ext cx="10883392" cy="505539"/>
          </a:xfrm>
          <a:prstGeom prst="rect">
            <a:avLst/>
          </a:prstGeom>
          <a:noFill/>
          <a:ln/>
        </p:spPr>
        <p:txBody>
          <a:bodyPr wrap="square" lIns="0" tIns="0" rIns="0" bIns="0" rtlCol="0" anchor="t">
            <a:normAutofit/>
          </a:bodyPr>
          <a:lstStyle/>
          <a:p>
            <a:pPr algn="l" indent="0" marL="0">
              <a:lnSpc>
                <a:spcPts val="1911"/>
              </a:lnSpc>
              <a:buNone/>
            </a:pPr>
            <a:r>
              <a:rPr lang="en-US" sz="1365" b="1" dirty="0">
                <a:solidFill>
                  <a:srgbClr val="F7F2EE"/>
                </a:solidFill>
                <a:latin typeface="Public Sans" pitchFamily="34" charset="0"/>
                <a:ea typeface="Public Sans" pitchFamily="34" charset="-122"/>
                <a:cs typeface="Public Sans" pitchFamily="34" charset="-120"/>
              </a:rPr>
              <a:t>Por qué:</a:t>
            </a:r>
            <a:r>
              <a:rPr lang="en-US" sz="1365" dirty="0">
                <a:solidFill>
                  <a:srgbClr val="F7F2EE"/>
                </a:solidFill>
                <a:latin typeface="Public Sans" pitchFamily="34" charset="0"/>
                <a:ea typeface="Public Sans" pitchFamily="34" charset="-122"/>
                <a:cs typeface="Public Sans" pitchFamily="34" charset="-120"/>
              </a:rPr>
              <a:t> valor medible y no identifica personas; una sola app con YOLO + ByteTrack. </a:t>
            </a:r>
            <a:r>
              <a:rPr lang="en-US" sz="1365" b="1" dirty="0">
                <a:solidFill>
                  <a:srgbClr val="F7F2EE"/>
                </a:solidFill>
                <a:latin typeface="Public Sans" pitchFamily="34" charset="0"/>
                <a:ea typeface="Public Sans" pitchFamily="34" charset="-122"/>
                <a:cs typeface="Public Sans" pitchFamily="34" charset="-120"/>
              </a:rPr>
              <a:t>Acceso facial:</a:t>
            </a:r>
            <a:r>
              <a:rPr lang="en-US" sz="1365" dirty="0">
                <a:solidFill>
                  <a:srgbClr val="F7F2EE"/>
                </a:solidFill>
                <a:latin typeface="Public Sans" pitchFamily="34" charset="0"/>
                <a:ea typeface="Public Sans" pitchFamily="34" charset="-122"/>
                <a:cs typeface="Public Sans" pitchFamily="34" charset="-120"/>
              </a:rPr>
              <a:t> biométrico, alta fricción y gobernanza de datos; se pospone. </a:t>
            </a:r>
            <a:r>
              <a:rPr lang="en-US" sz="1365" b="1" dirty="0">
                <a:solidFill>
                  <a:srgbClr val="F7F2EE"/>
                </a:solidFill>
                <a:latin typeface="Public Sans" pitchFamily="34" charset="0"/>
                <a:ea typeface="Public Sans" pitchFamily="34" charset="-122"/>
                <a:cs typeface="Public Sans" pitchFamily="34" charset="-120"/>
              </a:rPr>
              <a:t>Límite:</a:t>
            </a:r>
            <a:r>
              <a:rPr lang="en-US" sz="1365" dirty="0">
                <a:solidFill>
                  <a:srgbClr val="F7F2EE"/>
                </a:solidFill>
                <a:latin typeface="Public Sans" pitchFamily="34" charset="0"/>
                <a:ea typeface="Public Sans" pitchFamily="34" charset="-122"/>
                <a:cs typeface="Public Sans" pitchFamily="34" charset="-120"/>
              </a:rPr>
              <a:t> oclusiones y cruces en paralelo: las cifras se presentan como estimación.</a:t>
            </a:r>
            <a:endParaRPr lang="en-US" sz="1365" dirty="0"/>
          </a:p>
        </p:txBody>
      </p:sp>
      <p:sp>
        <p:nvSpPr>
          <p:cNvPr id="8" name="Shape 5"/>
          <p:cNvSpPr/>
          <p:nvPr/>
        </p:nvSpPr>
        <p:spPr>
          <a:xfrm>
            <a:off x="812800" y="5167074"/>
            <a:ext cx="3420507" cy="674926"/>
          </a:xfrm>
          <a:prstGeom prst="roundRect">
            <a:avLst>
              <a:gd name="adj" fmla="val 11290"/>
            </a:avLst>
          </a:prstGeom>
          <a:solidFill>
            <a:srgbClr val="8E2D3B"/>
          </a:solidFill>
          <a:ln/>
        </p:spPr>
      </p:sp>
      <p:sp>
        <p:nvSpPr>
          <p:cNvPr id="9" name="Text 6"/>
          <p:cNvSpPr/>
          <p:nvPr/>
        </p:nvSpPr>
        <p:spPr>
          <a:xfrm>
            <a:off x="990600" y="5294074"/>
            <a:ext cx="3156854" cy="44632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7F2EE"/>
                </a:solidFill>
                <a:latin typeface="Public Sans" pitchFamily="34" charset="0"/>
                <a:ea typeface="Public Sans" pitchFamily="34" charset="-122"/>
                <a:cs typeface="Public Sans" pitchFamily="34" charset="-120"/>
              </a:rPr>
              <a:t>Validación</a:t>
            </a:r>
            <a:r>
              <a:rPr lang="en-US" sz="1300" dirty="0">
                <a:solidFill>
                  <a:srgbClr val="F7F2EE"/>
                </a:solidFill>
                <a:latin typeface="Public Sans" pitchFamily="34" charset="0"/>
                <a:ea typeface="Public Sans" pitchFamily="34" charset="-122"/>
                <a:cs typeface="Public Sans" pitchFamily="34" charset="-120"/>
              </a:rPr>
              <a:t> con medición manual de referencia antes de prometer precisión</a:t>
            </a:r>
            <a:endParaRPr lang="en-US" sz="1300" dirty="0"/>
          </a:p>
        </p:txBody>
      </p:sp>
      <p:sp>
        <p:nvSpPr>
          <p:cNvPr id="10" name="Shape 7"/>
          <p:cNvSpPr/>
          <p:nvPr/>
        </p:nvSpPr>
        <p:spPr>
          <a:xfrm>
            <a:off x="4385707" y="5167074"/>
            <a:ext cx="3420586" cy="674926"/>
          </a:xfrm>
          <a:prstGeom prst="roundRect">
            <a:avLst>
              <a:gd name="adj" fmla="val 11290"/>
            </a:avLst>
          </a:prstGeom>
          <a:solidFill>
            <a:srgbClr val="8E2D3B"/>
          </a:solidFill>
          <a:ln/>
        </p:spPr>
      </p:sp>
      <p:sp>
        <p:nvSpPr>
          <p:cNvPr id="11" name="Text 8"/>
          <p:cNvSpPr/>
          <p:nvPr/>
        </p:nvSpPr>
        <p:spPr>
          <a:xfrm>
            <a:off x="4563507" y="5294074"/>
            <a:ext cx="3156936" cy="44632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7F2EE"/>
                </a:solidFill>
                <a:latin typeface="Public Sans" pitchFamily="34" charset="0"/>
                <a:ea typeface="Public Sans" pitchFamily="34" charset="-122"/>
                <a:cs typeface="Public Sans" pitchFamily="34" charset="-120"/>
              </a:rPr>
              <a:t>Multi-cámara</a:t>
            </a:r>
            <a:r>
              <a:rPr lang="en-US" sz="1300" dirty="0">
                <a:solidFill>
                  <a:srgbClr val="F7F2EE"/>
                </a:solidFill>
                <a:latin typeface="Public Sans" pitchFamily="34" charset="0"/>
                <a:ea typeface="Public Sans" pitchFamily="34" charset="-122"/>
                <a:cs typeface="Public Sans" pitchFamily="34" charset="-120"/>
              </a:rPr>
              <a:t> consolidar las 4 cámaras del piso piloto sin doble conteo</a:t>
            </a:r>
            <a:endParaRPr lang="en-US" sz="1300" dirty="0"/>
          </a:p>
        </p:txBody>
      </p:sp>
      <p:sp>
        <p:nvSpPr>
          <p:cNvPr id="12" name="Shape 9"/>
          <p:cNvSpPr/>
          <p:nvPr/>
        </p:nvSpPr>
        <p:spPr>
          <a:xfrm>
            <a:off x="7958693" y="5167074"/>
            <a:ext cx="3420507" cy="674926"/>
          </a:xfrm>
          <a:prstGeom prst="roundRect">
            <a:avLst>
              <a:gd name="adj" fmla="val 11290"/>
            </a:avLst>
          </a:prstGeom>
          <a:solidFill>
            <a:srgbClr val="8E2D3B"/>
          </a:solidFill>
          <a:ln/>
        </p:spPr>
      </p:sp>
      <p:sp>
        <p:nvSpPr>
          <p:cNvPr id="13" name="Text 10"/>
          <p:cNvSpPr/>
          <p:nvPr/>
        </p:nvSpPr>
        <p:spPr>
          <a:xfrm>
            <a:off x="8136493" y="5294074"/>
            <a:ext cx="3156854" cy="44632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7F2EE"/>
                </a:solidFill>
                <a:latin typeface="Public Sans" pitchFamily="34" charset="0"/>
                <a:ea typeface="Public Sans" pitchFamily="34" charset="-122"/>
                <a:cs typeface="Public Sans" pitchFamily="34" charset="-120"/>
              </a:rPr>
              <a:t>Revalidar</a:t>
            </a:r>
            <a:r>
              <a:rPr lang="en-US" sz="1300" dirty="0">
                <a:solidFill>
                  <a:srgbClr val="F7F2EE"/>
                </a:solidFill>
                <a:latin typeface="Public Sans" pitchFamily="34" charset="0"/>
                <a:ea typeface="Public Sans" pitchFamily="34" charset="-122"/>
                <a:cs typeface="Public Sans" pitchFamily="34" charset="-120"/>
              </a:rPr>
              <a:t> si cambia la cámara, el encuadre o la iluminación</a:t>
            </a:r>
            <a:endParaRPr lang="en-US" sz="1300" dirty="0"/>
          </a:p>
        </p:txBody>
      </p:sp>
      <p:sp>
        <p:nvSpPr>
          <p:cNvPr id="14"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F94"/>
                </a:solidFill>
                <a:latin typeface="Public Sans" pitchFamily="34" charset="0"/>
                <a:ea typeface="Public Sans" pitchFamily="34" charset="-122"/>
                <a:cs typeface="Public Sans" pitchFamily="34" charset="-120"/>
              </a:rPr>
              <a:t>¡Gracias! · Preguntas · 7</a:t>
            </a:r>
            <a:endParaRPr lang="en-US" sz="1200" dirty="0"/>
          </a:p>
        </p:txBody>
      </p:sp>
    </p:spTree>
  </p:cSld>
  <p:clrMapOvr>
    <a:masterClrMapping/>
  </p:clrMapOvr>
</p:sld>
</file>

<file path=ppt/theme/theme1.xml><?xml version="1.0" encoding="utf-8"?>
<a:theme xmlns:a="http://schemas.openxmlformats.org/drawingml/2006/main" name="BioVisión — Semana 3">
  <a:themeElements>
    <a:clrScheme name="BioVisión — Semana 3">
      <a:dk1>
        <a:srgbClr val="2A1A1D"/>
      </a:dk1>
      <a:lt1>
        <a:srgbClr val="F7F4F1"/>
      </a:lt1>
      <a:dk2>
        <a:srgbClr val="5D5152"/>
      </a:dk2>
      <a:lt2>
        <a:srgbClr val="E3DEDC"/>
      </a:lt2>
      <a:accent1>
        <a:srgbClr val="7A1E2C"/>
      </a:accent1>
      <a:accent2>
        <a:srgbClr val="E8CF94"/>
      </a:accent2>
      <a:accent3>
        <a:srgbClr val="8E2D3B"/>
      </a:accent3>
      <a:accent4>
        <a:srgbClr val="C9A24D"/>
      </a:accent4>
      <a:accent5>
        <a:srgbClr val="4A3B3E"/>
      </a:accent5>
      <a:accent6>
        <a:srgbClr val="7A6A6D"/>
      </a:accent6>
      <a:hlink>
        <a:srgbClr val="0563C1"/>
      </a:hlink>
      <a:folHlink>
        <a:srgbClr val="954F72"/>
      </a:folHlink>
    </a:clrScheme>
    <a:fontScheme name="BioVisión — Semana 3">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BioVisión — Semana 3</dc:title>
  <dc:subject/>
  <dc:creator/>
  <cp:lastModifiedBy/>
  <cp:revision>1</cp:revision>
  <dcterms:created xsi:type="dcterms:W3CDTF">2026-10-13T01:54:44Z</dcterms:created>
  <dcterms:modified xsi:type="dcterms:W3CDTF">2026-10-13T01:54:44Z</dcterms:modified>
</cp:coreProperties>
</file>